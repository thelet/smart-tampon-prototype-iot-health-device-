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Arimo"/>
      <p:bold r:id="rId17"/>
      <p:boldItalic r:id="rId18"/>
    </p:embeddedFont>
    <p:embeddedFont>
      <p:font typeface="Helvetica Neue"/>
      <p:bold r:id="rId19"/>
      <p:boldItalic r:id="rId20"/>
    </p:embeddedFont>
    <p:embeddedFont>
      <p:font typeface="Ultra"/>
      <p:regular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AI5rRtrkmiAOTBrIpcSe5kw/h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06237A-312D-456B-8B6E-7D024FC4B034}">
  <a:tblStyle styleId="{2206237A-312D-456B-8B6E-7D024FC4B0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Ultra-regular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mo-bold.fntdata"/><Relationship Id="rId16" Type="http://schemas.openxmlformats.org/officeDocument/2006/relationships/slide" Target="slides/slide10.xml"/><Relationship Id="rId19" Type="http://schemas.openxmlformats.org/officeDocument/2006/relationships/font" Target="fonts/HelveticaNeue-bold.fntdata"/><Relationship Id="rId18" Type="http://schemas.openxmlformats.org/officeDocument/2006/relationships/font" Target="fonts/Arim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10" Type="http://schemas.openxmlformats.org/officeDocument/2006/relationships/image" Target="../media/image29.png"/><Relationship Id="rId9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2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Relationship Id="rId7" Type="http://schemas.openxmlformats.org/officeDocument/2006/relationships/image" Target="../media/image35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7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42.jp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hyperlink" Target="mailto:SenseTampons@gmail.com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8471642"/>
            <a:ext cx="4256570" cy="1815358"/>
            <a:chOff x="0" y="-47625"/>
            <a:chExt cx="1121072" cy="478119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121072" cy="430494"/>
            </a:xfrm>
            <a:custGeom>
              <a:rect b="b" l="l" r="r" t="t"/>
              <a:pathLst>
                <a:path extrusionOk="0" h="430494" w="1121072">
                  <a:moveTo>
                    <a:pt x="0" y="0"/>
                  </a:moveTo>
                  <a:lnTo>
                    <a:pt x="1121072" y="0"/>
                  </a:lnTo>
                  <a:lnTo>
                    <a:pt x="1121072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1121072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4390602" y="-180826"/>
            <a:ext cx="3897398" cy="8833294"/>
            <a:chOff x="0" y="-47625"/>
            <a:chExt cx="1026475" cy="2326464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026475" cy="2278839"/>
            </a:xfrm>
            <a:custGeom>
              <a:rect b="b" l="l" r="r" t="t"/>
              <a:pathLst>
                <a:path extrusionOk="0" h="2278839" w="1026475">
                  <a:moveTo>
                    <a:pt x="0" y="0"/>
                  </a:moveTo>
                  <a:lnTo>
                    <a:pt x="1026475" y="0"/>
                  </a:lnTo>
                  <a:lnTo>
                    <a:pt x="1026475" y="2278839"/>
                  </a:lnTo>
                  <a:lnTo>
                    <a:pt x="0" y="2278839"/>
                  </a:lnTo>
                  <a:close/>
                </a:path>
              </a:pathLst>
            </a:custGeom>
            <a:solidFill>
              <a:srgbClr val="C69A8E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1026475" cy="23264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4632123" y="261659"/>
            <a:ext cx="3909131" cy="9471897"/>
            <a:chOff x="0" y="0"/>
            <a:chExt cx="5212174" cy="12629195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5212174" cy="1791093"/>
            </a:xfrm>
            <a:custGeom>
              <a:rect b="b" l="l" r="r" t="t"/>
              <a:pathLst>
                <a:path extrusionOk="0" h="1791093" w="5212174">
                  <a:moveTo>
                    <a:pt x="0" y="0"/>
                  </a:moveTo>
                  <a:lnTo>
                    <a:pt x="5212174" y="0"/>
                  </a:lnTo>
                  <a:lnTo>
                    <a:pt x="5212174" y="1791093"/>
                  </a:lnTo>
                  <a:lnTo>
                    <a:pt x="0" y="17910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"/>
            <p:cNvSpPr/>
            <p:nvPr/>
          </p:nvSpPr>
          <p:spPr>
            <a:xfrm>
              <a:off x="0" y="6509121"/>
              <a:ext cx="5212174" cy="1791093"/>
            </a:xfrm>
            <a:custGeom>
              <a:rect b="b" l="l" r="r" t="t"/>
              <a:pathLst>
                <a:path extrusionOk="0" h="1791093" w="5212174">
                  <a:moveTo>
                    <a:pt x="0" y="0"/>
                  </a:moveTo>
                  <a:lnTo>
                    <a:pt x="5212174" y="0"/>
                  </a:lnTo>
                  <a:lnTo>
                    <a:pt x="5212174" y="1791093"/>
                  </a:lnTo>
                  <a:lnTo>
                    <a:pt x="0" y="17910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3" name="Google Shape;93;p1"/>
            <p:cNvSpPr/>
            <p:nvPr/>
          </p:nvSpPr>
          <p:spPr>
            <a:xfrm>
              <a:off x="0" y="2164490"/>
              <a:ext cx="5212174" cy="1791093"/>
            </a:xfrm>
            <a:custGeom>
              <a:rect b="b" l="l" r="r" t="t"/>
              <a:pathLst>
                <a:path extrusionOk="0" h="1791093" w="5212174">
                  <a:moveTo>
                    <a:pt x="0" y="0"/>
                  </a:moveTo>
                  <a:lnTo>
                    <a:pt x="5212174" y="0"/>
                  </a:lnTo>
                  <a:lnTo>
                    <a:pt x="5212174" y="1791093"/>
                  </a:lnTo>
                  <a:lnTo>
                    <a:pt x="0" y="17910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0" y="8673611"/>
              <a:ext cx="5212174" cy="1791093"/>
            </a:xfrm>
            <a:custGeom>
              <a:rect b="b" l="l" r="r" t="t"/>
              <a:pathLst>
                <a:path extrusionOk="0" h="1791093" w="5212174">
                  <a:moveTo>
                    <a:pt x="0" y="0"/>
                  </a:moveTo>
                  <a:lnTo>
                    <a:pt x="5212174" y="0"/>
                  </a:lnTo>
                  <a:lnTo>
                    <a:pt x="5212174" y="1791093"/>
                  </a:lnTo>
                  <a:lnTo>
                    <a:pt x="0" y="17910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0" y="4328980"/>
              <a:ext cx="5212174" cy="1791093"/>
            </a:xfrm>
            <a:custGeom>
              <a:rect b="b" l="l" r="r" t="t"/>
              <a:pathLst>
                <a:path extrusionOk="0" h="1791093" w="5212174">
                  <a:moveTo>
                    <a:pt x="0" y="0"/>
                  </a:moveTo>
                  <a:lnTo>
                    <a:pt x="5212174" y="0"/>
                  </a:lnTo>
                  <a:lnTo>
                    <a:pt x="5212174" y="1791093"/>
                  </a:lnTo>
                  <a:lnTo>
                    <a:pt x="0" y="17910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6" name="Google Shape;96;p1"/>
            <p:cNvSpPr/>
            <p:nvPr/>
          </p:nvSpPr>
          <p:spPr>
            <a:xfrm>
              <a:off x="0" y="10838102"/>
              <a:ext cx="5212174" cy="1791093"/>
            </a:xfrm>
            <a:custGeom>
              <a:rect b="b" l="l" r="r" t="t"/>
              <a:pathLst>
                <a:path extrusionOk="0" h="1791093" w="5212174">
                  <a:moveTo>
                    <a:pt x="0" y="0"/>
                  </a:moveTo>
                  <a:lnTo>
                    <a:pt x="5212174" y="0"/>
                  </a:lnTo>
                  <a:lnTo>
                    <a:pt x="5212174" y="1791092"/>
                  </a:lnTo>
                  <a:lnTo>
                    <a:pt x="0" y="17910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97" name="Google Shape;97;p1"/>
          <p:cNvGrpSpPr/>
          <p:nvPr/>
        </p:nvGrpSpPr>
        <p:grpSpPr>
          <a:xfrm>
            <a:off x="4256570" y="8471642"/>
            <a:ext cx="14031430" cy="1815358"/>
            <a:chOff x="0" y="-47625"/>
            <a:chExt cx="3695521" cy="478119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695521" cy="430494"/>
            </a:xfrm>
            <a:custGeom>
              <a:rect b="b" l="l" r="r" t="t"/>
              <a:pathLst>
                <a:path extrusionOk="0" h="430494" w="3695521">
                  <a:moveTo>
                    <a:pt x="0" y="0"/>
                  </a:moveTo>
                  <a:lnTo>
                    <a:pt x="3695521" y="0"/>
                  </a:lnTo>
                  <a:lnTo>
                    <a:pt x="3695521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695521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/>
          <p:nvPr/>
        </p:nvSpPr>
        <p:spPr>
          <a:xfrm rot="-84000">
            <a:off x="13520213" y="444401"/>
            <a:ext cx="4357321" cy="7811307"/>
          </a:xfrm>
          <a:custGeom>
            <a:rect b="b" l="l" r="r" t="t"/>
            <a:pathLst>
              <a:path extrusionOk="0" h="1210176" w="675063">
                <a:moveTo>
                  <a:pt x="29191" y="0"/>
                </a:moveTo>
                <a:lnTo>
                  <a:pt x="675063" y="15785"/>
                </a:lnTo>
                <a:lnTo>
                  <a:pt x="645872" y="1210176"/>
                </a:lnTo>
                <a:lnTo>
                  <a:pt x="0" y="119439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433" l="-16020" r="-19731" t="-3045"/>
            </a:stretch>
          </a:blipFill>
          <a:ln cap="sq" cmpd="sng" w="9525">
            <a:solidFill>
              <a:srgbClr val="A37C7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01" name="Google Shape;101;p1"/>
          <p:cNvGrpSpPr/>
          <p:nvPr/>
        </p:nvGrpSpPr>
        <p:grpSpPr>
          <a:xfrm>
            <a:off x="4688766" y="9267825"/>
            <a:ext cx="15524903" cy="2696661"/>
            <a:chOff x="0" y="0"/>
            <a:chExt cx="20699871" cy="3595548"/>
          </a:xfrm>
        </p:grpSpPr>
        <p:sp>
          <p:nvSpPr>
            <p:cNvPr id="102" name="Google Shape;102;p1"/>
            <p:cNvSpPr/>
            <p:nvPr/>
          </p:nvSpPr>
          <p:spPr>
            <a:xfrm>
              <a:off x="14129933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/>
            <p:nvPr/>
          </p:nvSpPr>
          <p:spPr>
            <a:xfrm>
              <a:off x="7065238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4" name="Google Shape;104;p1"/>
            <p:cNvSpPr/>
            <p:nvPr/>
          </p:nvSpPr>
          <p:spPr>
            <a:xfrm>
              <a:off x="0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05" name="Google Shape;105;p1"/>
          <p:cNvGrpSpPr/>
          <p:nvPr/>
        </p:nvGrpSpPr>
        <p:grpSpPr>
          <a:xfrm>
            <a:off x="0" y="8804664"/>
            <a:ext cx="3524235" cy="1330141"/>
            <a:chOff x="0" y="0"/>
            <a:chExt cx="4698980" cy="1773521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1762118" y="726837"/>
            <a:ext cx="2133348" cy="5796623"/>
          </a:xfrm>
          <a:custGeom>
            <a:rect b="b" l="l" r="r" t="t"/>
            <a:pathLst>
              <a:path extrusionOk="0" h="5796623" w="2133348">
                <a:moveTo>
                  <a:pt x="0" y="0"/>
                </a:moveTo>
                <a:lnTo>
                  <a:pt x="2133348" y="0"/>
                </a:lnTo>
                <a:lnTo>
                  <a:pt x="2133348" y="5796623"/>
                </a:lnTo>
                <a:lnTo>
                  <a:pt x="0" y="5796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8000"/>
            </a:blip>
            <a:stretch>
              <a:fillRect b="0" l="0" r="-176212" t="-1655"/>
            </a:stretch>
          </a:blipFill>
          <a:ln>
            <a:noFill/>
          </a:ln>
        </p:spPr>
      </p:sp>
      <p:sp>
        <p:nvSpPr>
          <p:cNvPr id="109" name="Google Shape;109;p1"/>
          <p:cNvSpPr txBox="1"/>
          <p:nvPr/>
        </p:nvSpPr>
        <p:spPr>
          <a:xfrm>
            <a:off x="1276343" y="1742513"/>
            <a:ext cx="11738664" cy="4224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7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Smart Tampons Technology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4372207" y="2537042"/>
            <a:ext cx="5680286" cy="2176213"/>
          </a:xfrm>
          <a:custGeom>
            <a:rect b="b" l="l" r="r" t="t"/>
            <a:pathLst>
              <a:path extrusionOk="0" h="2176213" w="5680286">
                <a:moveTo>
                  <a:pt x="0" y="0"/>
                </a:moveTo>
                <a:lnTo>
                  <a:pt x="5680286" y="0"/>
                </a:lnTo>
                <a:lnTo>
                  <a:pt x="5680286" y="2176213"/>
                </a:lnTo>
                <a:lnTo>
                  <a:pt x="0" y="2176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90429" l="-64198" r="-15026" t="-177341"/>
            </a:stretch>
          </a:blipFill>
          <a:ln>
            <a:noFill/>
          </a:ln>
        </p:spPr>
      </p:sp>
      <p:sp>
        <p:nvSpPr>
          <p:cNvPr id="111" name="Google Shape;111;p1"/>
          <p:cNvSpPr txBox="1"/>
          <p:nvPr/>
        </p:nvSpPr>
        <p:spPr>
          <a:xfrm>
            <a:off x="1032272" y="723900"/>
            <a:ext cx="1173509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Innovating Feminine Health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028700" y="7180685"/>
            <a:ext cx="1071944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Transforming menstrual health with our innovative IoT solutions and empower users with real-time insights.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 rot="-29999">
            <a:off x="12842645" y="1009704"/>
            <a:ext cx="4448083" cy="7259897"/>
          </a:xfrm>
          <a:custGeom>
            <a:rect b="b" l="l" r="r" t="t"/>
            <a:pathLst>
              <a:path extrusionOk="0" h="1124748" w="689124">
                <a:moveTo>
                  <a:pt x="9764" y="0"/>
                </a:moveTo>
                <a:lnTo>
                  <a:pt x="689124" y="5929"/>
                </a:lnTo>
                <a:lnTo>
                  <a:pt x="679361" y="1124748"/>
                </a:lnTo>
                <a:lnTo>
                  <a:pt x="0" y="111881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7807" r="-51533" t="-27009"/>
            </a:stretch>
          </a:blipFill>
          <a:ln cap="sq" cmpd="sng" w="9525">
            <a:solidFill>
              <a:srgbClr val="A37C7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18" name="Google Shape;118;p2"/>
          <p:cNvGrpSpPr/>
          <p:nvPr/>
        </p:nvGrpSpPr>
        <p:grpSpPr>
          <a:xfrm>
            <a:off x="4256570" y="8471642"/>
            <a:ext cx="14031430" cy="1815358"/>
            <a:chOff x="0" y="-47625"/>
            <a:chExt cx="3695521" cy="478119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3695521" cy="430494"/>
            </a:xfrm>
            <a:custGeom>
              <a:rect b="b" l="l" r="r" t="t"/>
              <a:pathLst>
                <a:path extrusionOk="0" h="430494" w="3695521">
                  <a:moveTo>
                    <a:pt x="0" y="0"/>
                  </a:moveTo>
                  <a:lnTo>
                    <a:pt x="3695521" y="0"/>
                  </a:lnTo>
                  <a:lnTo>
                    <a:pt x="3695521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C69A8E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-47625"/>
              <a:ext cx="3695521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3016351" y="9267825"/>
            <a:ext cx="15524903" cy="2696661"/>
            <a:chOff x="0" y="0"/>
            <a:chExt cx="20699871" cy="3595548"/>
          </a:xfrm>
        </p:grpSpPr>
        <p:sp>
          <p:nvSpPr>
            <p:cNvPr id="122" name="Google Shape;122;p2"/>
            <p:cNvSpPr/>
            <p:nvPr/>
          </p:nvSpPr>
          <p:spPr>
            <a:xfrm>
              <a:off x="14129933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2"/>
            <p:cNvSpPr/>
            <p:nvPr/>
          </p:nvSpPr>
          <p:spPr>
            <a:xfrm>
              <a:off x="7065238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4" name="Google Shape;124;p2"/>
            <p:cNvSpPr/>
            <p:nvPr/>
          </p:nvSpPr>
          <p:spPr>
            <a:xfrm>
              <a:off x="0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25" name="Google Shape;125;p2"/>
          <p:cNvGrpSpPr/>
          <p:nvPr/>
        </p:nvGrpSpPr>
        <p:grpSpPr>
          <a:xfrm>
            <a:off x="0" y="8471642"/>
            <a:ext cx="4256570" cy="1815358"/>
            <a:chOff x="0" y="-47625"/>
            <a:chExt cx="1121072" cy="478119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121072" cy="430494"/>
            </a:xfrm>
            <a:custGeom>
              <a:rect b="b" l="l" r="r" t="t"/>
              <a:pathLst>
                <a:path extrusionOk="0" h="430494" w="1121072">
                  <a:moveTo>
                    <a:pt x="0" y="0"/>
                  </a:moveTo>
                  <a:lnTo>
                    <a:pt x="1121072" y="0"/>
                  </a:lnTo>
                  <a:lnTo>
                    <a:pt x="1121072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2B5A8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47625"/>
              <a:ext cx="1121072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530221" y="4138443"/>
            <a:ext cx="4972259" cy="1005057"/>
            <a:chOff x="0" y="-202325"/>
            <a:chExt cx="6629679" cy="1340076"/>
          </a:xfrm>
        </p:grpSpPr>
        <p:grpSp>
          <p:nvGrpSpPr>
            <p:cNvPr id="129" name="Google Shape;129;p2"/>
            <p:cNvGrpSpPr/>
            <p:nvPr/>
          </p:nvGrpSpPr>
          <p:grpSpPr>
            <a:xfrm>
              <a:off x="0" y="-202325"/>
              <a:ext cx="971961" cy="1301299"/>
              <a:chOff x="0" y="-47625"/>
              <a:chExt cx="191992" cy="257047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0" y="0"/>
                <a:ext cx="191992" cy="209422"/>
              </a:xfrm>
              <a:custGeom>
                <a:rect b="b" l="l" r="r" t="t"/>
                <a:pathLst>
                  <a:path extrusionOk="0" h="209422" w="191992">
                    <a:moveTo>
                      <a:pt x="95996" y="0"/>
                    </a:moveTo>
                    <a:lnTo>
                      <a:pt x="95996" y="0"/>
                    </a:lnTo>
                    <a:cubicBezTo>
                      <a:pt x="149013" y="0"/>
                      <a:pt x="191992" y="42979"/>
                      <a:pt x="191992" y="95996"/>
                    </a:cubicBezTo>
                    <a:lnTo>
                      <a:pt x="191992" y="113426"/>
                    </a:lnTo>
                    <a:cubicBezTo>
                      <a:pt x="191992" y="166443"/>
                      <a:pt x="149013" y="209422"/>
                      <a:pt x="95996" y="209422"/>
                    </a:cubicBezTo>
                    <a:lnTo>
                      <a:pt x="95996" y="209422"/>
                    </a:lnTo>
                    <a:cubicBezTo>
                      <a:pt x="42979" y="209422"/>
                      <a:pt x="0" y="166443"/>
                      <a:pt x="0" y="113426"/>
                    </a:cubicBezTo>
                    <a:lnTo>
                      <a:pt x="0" y="95996"/>
                    </a:lnTo>
                    <a:cubicBezTo>
                      <a:pt x="0" y="42979"/>
                      <a:pt x="42979" y="0"/>
                      <a:pt x="95996" y="0"/>
                    </a:cubicBezTo>
                    <a:close/>
                  </a:path>
                </a:pathLst>
              </a:custGeom>
              <a:solidFill>
                <a:srgbClr val="E0C9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2"/>
              <p:cNvSpPr txBox="1"/>
              <p:nvPr/>
            </p:nvSpPr>
            <p:spPr>
              <a:xfrm>
                <a:off x="0" y="-47625"/>
                <a:ext cx="191992" cy="25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2"/>
            <p:cNvSpPr/>
            <p:nvPr/>
          </p:nvSpPr>
          <p:spPr>
            <a:xfrm>
              <a:off x="95660" y="64176"/>
              <a:ext cx="765028" cy="956285"/>
            </a:xfrm>
            <a:custGeom>
              <a:rect b="b" l="l" r="r" t="t"/>
              <a:pathLst>
                <a:path extrusionOk="0" h="956285" w="765028">
                  <a:moveTo>
                    <a:pt x="0" y="0"/>
                  </a:moveTo>
                  <a:lnTo>
                    <a:pt x="765028" y="0"/>
                  </a:lnTo>
                  <a:lnTo>
                    <a:pt x="765028" y="956285"/>
                  </a:lnTo>
                  <a:lnTo>
                    <a:pt x="0" y="9562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1403761" y="-28575"/>
              <a:ext cx="5225918" cy="1166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Saturation Uncertainty</a:t>
              </a:r>
              <a:endParaRPr/>
            </a:p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 real-time data on capacity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530221" y="6372881"/>
            <a:ext cx="5403564" cy="1005057"/>
            <a:chOff x="0" y="-202325"/>
            <a:chExt cx="7204752" cy="1340076"/>
          </a:xfrm>
        </p:grpSpPr>
        <p:grpSp>
          <p:nvGrpSpPr>
            <p:cNvPr id="135" name="Google Shape;135;p2"/>
            <p:cNvGrpSpPr/>
            <p:nvPr/>
          </p:nvGrpSpPr>
          <p:grpSpPr>
            <a:xfrm>
              <a:off x="0" y="-202325"/>
              <a:ext cx="971961" cy="1301299"/>
              <a:chOff x="0" y="-47625"/>
              <a:chExt cx="191992" cy="257047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0" y="0"/>
                <a:ext cx="191992" cy="209422"/>
              </a:xfrm>
              <a:custGeom>
                <a:rect b="b" l="l" r="r" t="t"/>
                <a:pathLst>
                  <a:path extrusionOk="0" h="209422" w="191992">
                    <a:moveTo>
                      <a:pt x="95996" y="0"/>
                    </a:moveTo>
                    <a:lnTo>
                      <a:pt x="95996" y="0"/>
                    </a:lnTo>
                    <a:cubicBezTo>
                      <a:pt x="149013" y="0"/>
                      <a:pt x="191992" y="42979"/>
                      <a:pt x="191992" y="95996"/>
                    </a:cubicBezTo>
                    <a:lnTo>
                      <a:pt x="191992" y="113426"/>
                    </a:lnTo>
                    <a:cubicBezTo>
                      <a:pt x="191992" y="166443"/>
                      <a:pt x="149013" y="209422"/>
                      <a:pt x="95996" y="209422"/>
                    </a:cubicBezTo>
                    <a:lnTo>
                      <a:pt x="95996" y="209422"/>
                    </a:lnTo>
                    <a:cubicBezTo>
                      <a:pt x="42979" y="209422"/>
                      <a:pt x="0" y="166443"/>
                      <a:pt x="0" y="113426"/>
                    </a:cubicBezTo>
                    <a:lnTo>
                      <a:pt x="0" y="95996"/>
                    </a:lnTo>
                    <a:cubicBezTo>
                      <a:pt x="0" y="42979"/>
                      <a:pt x="42979" y="0"/>
                      <a:pt x="95996" y="0"/>
                    </a:cubicBezTo>
                    <a:close/>
                  </a:path>
                </a:pathLst>
              </a:custGeom>
              <a:solidFill>
                <a:srgbClr val="E0C9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"/>
              <p:cNvSpPr txBox="1"/>
              <p:nvPr/>
            </p:nvSpPr>
            <p:spPr>
              <a:xfrm>
                <a:off x="0" y="-47625"/>
                <a:ext cx="191992" cy="25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" name="Google Shape;138;p2"/>
            <p:cNvSpPr/>
            <p:nvPr/>
          </p:nvSpPr>
          <p:spPr>
            <a:xfrm>
              <a:off x="122751" y="114838"/>
              <a:ext cx="726460" cy="908075"/>
            </a:xfrm>
            <a:custGeom>
              <a:rect b="b" l="l" r="r" t="t"/>
              <a:pathLst>
                <a:path extrusionOk="0" h="908075" w="726460">
                  <a:moveTo>
                    <a:pt x="0" y="0"/>
                  </a:moveTo>
                  <a:lnTo>
                    <a:pt x="726460" y="0"/>
                  </a:lnTo>
                  <a:lnTo>
                    <a:pt x="726460" y="908075"/>
                  </a:lnTo>
                  <a:lnTo>
                    <a:pt x="0" y="9080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9" name="Google Shape;139;p2"/>
            <p:cNvSpPr txBox="1"/>
            <p:nvPr/>
          </p:nvSpPr>
          <p:spPr>
            <a:xfrm>
              <a:off x="1398868" y="-28575"/>
              <a:ext cx="5805884" cy="1166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Extra Bathroom Trips</a:t>
              </a:r>
              <a:endParaRPr/>
            </a:p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Unnecessary checks disrupt day</a:t>
              </a:r>
              <a:endParaRPr/>
            </a:p>
          </p:txBody>
        </p:sp>
      </p:grpSp>
      <p:sp>
        <p:nvSpPr>
          <p:cNvPr id="140" name="Google Shape;140;p2"/>
          <p:cNvSpPr txBox="1"/>
          <p:nvPr/>
        </p:nvSpPr>
        <p:spPr>
          <a:xfrm>
            <a:off x="691794" y="1080262"/>
            <a:ext cx="1050023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Why Today’s Tampon Fails Users</a:t>
            </a:r>
            <a:endParaRPr/>
          </a:p>
        </p:txBody>
      </p:sp>
      <p:grpSp>
        <p:nvGrpSpPr>
          <p:cNvPr id="141" name="Google Shape;141;p2"/>
          <p:cNvGrpSpPr/>
          <p:nvPr/>
        </p:nvGrpSpPr>
        <p:grpSpPr>
          <a:xfrm>
            <a:off x="6848607" y="4167526"/>
            <a:ext cx="5032187" cy="975974"/>
            <a:chOff x="0" y="-163548"/>
            <a:chExt cx="6709583" cy="1301299"/>
          </a:xfrm>
        </p:grpSpPr>
        <p:grpSp>
          <p:nvGrpSpPr>
            <p:cNvPr id="142" name="Google Shape;142;p2"/>
            <p:cNvGrpSpPr/>
            <p:nvPr/>
          </p:nvGrpSpPr>
          <p:grpSpPr>
            <a:xfrm>
              <a:off x="0" y="-163548"/>
              <a:ext cx="971961" cy="1301299"/>
              <a:chOff x="0" y="-47625"/>
              <a:chExt cx="191992" cy="257047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0" y="0"/>
                <a:ext cx="191992" cy="209422"/>
              </a:xfrm>
              <a:custGeom>
                <a:rect b="b" l="l" r="r" t="t"/>
                <a:pathLst>
                  <a:path extrusionOk="0" h="209422" w="191992">
                    <a:moveTo>
                      <a:pt x="95996" y="0"/>
                    </a:moveTo>
                    <a:lnTo>
                      <a:pt x="95996" y="0"/>
                    </a:lnTo>
                    <a:cubicBezTo>
                      <a:pt x="149013" y="0"/>
                      <a:pt x="191992" y="42979"/>
                      <a:pt x="191992" y="95996"/>
                    </a:cubicBezTo>
                    <a:lnTo>
                      <a:pt x="191992" y="113426"/>
                    </a:lnTo>
                    <a:cubicBezTo>
                      <a:pt x="191992" y="166443"/>
                      <a:pt x="149013" y="209422"/>
                      <a:pt x="95996" y="209422"/>
                    </a:cubicBezTo>
                    <a:lnTo>
                      <a:pt x="95996" y="209422"/>
                    </a:lnTo>
                    <a:cubicBezTo>
                      <a:pt x="42979" y="209422"/>
                      <a:pt x="0" y="166443"/>
                      <a:pt x="0" y="113426"/>
                    </a:cubicBezTo>
                    <a:lnTo>
                      <a:pt x="0" y="95996"/>
                    </a:lnTo>
                    <a:cubicBezTo>
                      <a:pt x="0" y="42979"/>
                      <a:pt x="42979" y="0"/>
                      <a:pt x="95996" y="0"/>
                    </a:cubicBezTo>
                    <a:close/>
                  </a:path>
                </a:pathLst>
              </a:custGeom>
              <a:solidFill>
                <a:srgbClr val="E0C9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0" y="-47625"/>
                <a:ext cx="191992" cy="25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" name="Google Shape;145;p2"/>
            <p:cNvSpPr/>
            <p:nvPr/>
          </p:nvSpPr>
          <p:spPr>
            <a:xfrm>
              <a:off x="143906" y="186167"/>
              <a:ext cx="684149" cy="842970"/>
            </a:xfrm>
            <a:custGeom>
              <a:rect b="b" l="l" r="r" t="t"/>
              <a:pathLst>
                <a:path extrusionOk="0" h="842970" w="684149">
                  <a:moveTo>
                    <a:pt x="0" y="0"/>
                  </a:moveTo>
                  <a:lnTo>
                    <a:pt x="684149" y="0"/>
                  </a:lnTo>
                  <a:lnTo>
                    <a:pt x="684149" y="842969"/>
                  </a:lnTo>
                  <a:lnTo>
                    <a:pt x="0" y="842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6" name="Google Shape;146;p2"/>
            <p:cNvSpPr txBox="1"/>
            <p:nvPr/>
          </p:nvSpPr>
          <p:spPr>
            <a:xfrm>
              <a:off x="1403761" y="-28575"/>
              <a:ext cx="5305822" cy="1166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Data Blind Spot</a:t>
              </a:r>
              <a:endParaRPr/>
            </a:p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Missing critical health insights</a:t>
              </a:r>
              <a:endParaRPr/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6848607" y="6372881"/>
            <a:ext cx="6025466" cy="1005057"/>
            <a:chOff x="0" y="-202325"/>
            <a:chExt cx="8033955" cy="1340076"/>
          </a:xfrm>
        </p:grpSpPr>
        <p:grpSp>
          <p:nvGrpSpPr>
            <p:cNvPr id="148" name="Google Shape;148;p2"/>
            <p:cNvGrpSpPr/>
            <p:nvPr/>
          </p:nvGrpSpPr>
          <p:grpSpPr>
            <a:xfrm>
              <a:off x="0" y="-202325"/>
              <a:ext cx="971961" cy="1301299"/>
              <a:chOff x="0" y="-47625"/>
              <a:chExt cx="191992" cy="257047"/>
            </a:xfrm>
          </p:grpSpPr>
          <p:sp>
            <p:nvSpPr>
              <p:cNvPr id="149" name="Google Shape;149;p2"/>
              <p:cNvSpPr/>
              <p:nvPr/>
            </p:nvSpPr>
            <p:spPr>
              <a:xfrm>
                <a:off x="0" y="0"/>
                <a:ext cx="191992" cy="209422"/>
              </a:xfrm>
              <a:custGeom>
                <a:rect b="b" l="l" r="r" t="t"/>
                <a:pathLst>
                  <a:path extrusionOk="0" h="209422" w="191992">
                    <a:moveTo>
                      <a:pt x="95996" y="0"/>
                    </a:moveTo>
                    <a:lnTo>
                      <a:pt x="95996" y="0"/>
                    </a:lnTo>
                    <a:cubicBezTo>
                      <a:pt x="149013" y="0"/>
                      <a:pt x="191992" y="42979"/>
                      <a:pt x="191992" y="95996"/>
                    </a:cubicBezTo>
                    <a:lnTo>
                      <a:pt x="191992" y="113426"/>
                    </a:lnTo>
                    <a:cubicBezTo>
                      <a:pt x="191992" y="166443"/>
                      <a:pt x="149013" y="209422"/>
                      <a:pt x="95996" y="209422"/>
                    </a:cubicBezTo>
                    <a:lnTo>
                      <a:pt x="95996" y="209422"/>
                    </a:lnTo>
                    <a:cubicBezTo>
                      <a:pt x="42979" y="209422"/>
                      <a:pt x="0" y="166443"/>
                      <a:pt x="0" y="113426"/>
                    </a:cubicBezTo>
                    <a:lnTo>
                      <a:pt x="0" y="95996"/>
                    </a:lnTo>
                    <a:cubicBezTo>
                      <a:pt x="0" y="42979"/>
                      <a:pt x="42979" y="0"/>
                      <a:pt x="95996" y="0"/>
                    </a:cubicBezTo>
                    <a:close/>
                  </a:path>
                </a:pathLst>
              </a:custGeom>
              <a:solidFill>
                <a:srgbClr val="E0C9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2"/>
              <p:cNvSpPr txBox="1"/>
              <p:nvPr/>
            </p:nvSpPr>
            <p:spPr>
              <a:xfrm>
                <a:off x="0" y="-47625"/>
                <a:ext cx="191992" cy="25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" name="Google Shape;151;p2"/>
            <p:cNvSpPr/>
            <p:nvPr/>
          </p:nvSpPr>
          <p:spPr>
            <a:xfrm>
              <a:off x="67953" y="26076"/>
              <a:ext cx="836056" cy="1045070"/>
            </a:xfrm>
            <a:custGeom>
              <a:rect b="b" l="l" r="r" t="t"/>
              <a:pathLst>
                <a:path extrusionOk="0" h="1045070" w="836056">
                  <a:moveTo>
                    <a:pt x="0" y="0"/>
                  </a:moveTo>
                  <a:lnTo>
                    <a:pt x="836055" y="0"/>
                  </a:lnTo>
                  <a:lnTo>
                    <a:pt x="836055" y="1045070"/>
                  </a:lnTo>
                  <a:lnTo>
                    <a:pt x="0" y="10450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2" name="Google Shape;152;p2"/>
            <p:cNvSpPr txBox="1"/>
            <p:nvPr/>
          </p:nvSpPr>
          <p:spPr>
            <a:xfrm>
              <a:off x="1403761" y="-28575"/>
              <a:ext cx="6630194" cy="1166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Health Risk</a:t>
              </a:r>
              <a:endParaRPr/>
            </a:p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TSS potential with prolonged use</a:t>
              </a:r>
              <a:endParaRPr/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0" y="8804664"/>
            <a:ext cx="3524235" cy="1330141"/>
            <a:chOff x="0" y="0"/>
            <a:chExt cx="4698980" cy="1773521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155" name="Google Shape;155;p2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10668734" y="7424614"/>
            <a:ext cx="10607998" cy="3388256"/>
          </a:xfrm>
          <a:custGeom>
            <a:rect b="b" l="l" r="r" t="t"/>
            <a:pathLst>
              <a:path extrusionOk="0" h="3388256" w="10607998">
                <a:moveTo>
                  <a:pt x="0" y="0"/>
                </a:moveTo>
                <a:lnTo>
                  <a:pt x="10607998" y="0"/>
                </a:lnTo>
                <a:lnTo>
                  <a:pt x="10607998" y="3388255"/>
                </a:lnTo>
                <a:lnTo>
                  <a:pt x="0" y="3388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3"/>
          <p:cNvSpPr/>
          <p:nvPr/>
        </p:nvSpPr>
        <p:spPr>
          <a:xfrm>
            <a:off x="14124379" y="2636713"/>
            <a:ext cx="2969994" cy="5936643"/>
          </a:xfrm>
          <a:custGeom>
            <a:rect b="b" l="l" r="r" t="t"/>
            <a:pathLst>
              <a:path extrusionOk="0" h="855194" w="427838">
                <a:moveTo>
                  <a:pt x="0" y="0"/>
                </a:moveTo>
                <a:lnTo>
                  <a:pt x="427838" y="0"/>
                </a:lnTo>
                <a:lnTo>
                  <a:pt x="427838" y="855194"/>
                </a:lnTo>
                <a:lnTo>
                  <a:pt x="0" y="855194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0015" r="-99808" t="0"/>
            </a:stretch>
          </a:blipFill>
          <a:ln>
            <a:noFill/>
          </a:ln>
        </p:spPr>
      </p:sp>
      <p:sp>
        <p:nvSpPr>
          <p:cNvPr id="162" name="Google Shape;162;p3"/>
          <p:cNvSpPr/>
          <p:nvPr/>
        </p:nvSpPr>
        <p:spPr>
          <a:xfrm>
            <a:off x="-3561027" y="-415664"/>
            <a:ext cx="10607998" cy="3388256"/>
          </a:xfrm>
          <a:custGeom>
            <a:rect b="b" l="l" r="r" t="t"/>
            <a:pathLst>
              <a:path extrusionOk="0" h="3388256" w="10607998">
                <a:moveTo>
                  <a:pt x="0" y="0"/>
                </a:moveTo>
                <a:lnTo>
                  <a:pt x="10607998" y="0"/>
                </a:lnTo>
                <a:lnTo>
                  <a:pt x="10607998" y="3388256"/>
                </a:lnTo>
                <a:lnTo>
                  <a:pt x="0" y="3388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3"/>
          <p:cNvSpPr/>
          <p:nvPr/>
        </p:nvSpPr>
        <p:spPr>
          <a:xfrm>
            <a:off x="1028700" y="2636713"/>
            <a:ext cx="3066736" cy="5936643"/>
          </a:xfrm>
          <a:custGeom>
            <a:rect b="b" l="l" r="r" t="t"/>
            <a:pathLst>
              <a:path extrusionOk="0" h="855194" w="441774">
                <a:moveTo>
                  <a:pt x="0" y="0"/>
                </a:moveTo>
                <a:lnTo>
                  <a:pt x="441774" y="0"/>
                </a:lnTo>
                <a:lnTo>
                  <a:pt x="441774" y="855194"/>
                </a:lnTo>
                <a:lnTo>
                  <a:pt x="0" y="855194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7239" r="-3112" t="0"/>
            </a:stretch>
          </a:blipFill>
          <a:ln>
            <a:noFill/>
          </a:ln>
        </p:spPr>
      </p:sp>
      <p:sp>
        <p:nvSpPr>
          <p:cNvPr id="164" name="Google Shape;164;p3"/>
          <p:cNvSpPr/>
          <p:nvPr/>
        </p:nvSpPr>
        <p:spPr>
          <a:xfrm>
            <a:off x="7428928" y="2014123"/>
            <a:ext cx="3430144" cy="6856130"/>
          </a:xfrm>
          <a:custGeom>
            <a:rect b="b" l="l" r="r" t="t"/>
            <a:pathLst>
              <a:path extrusionOk="0" h="1257275" w="629019">
                <a:moveTo>
                  <a:pt x="0" y="0"/>
                </a:moveTo>
                <a:lnTo>
                  <a:pt x="629019" y="0"/>
                </a:lnTo>
                <a:lnTo>
                  <a:pt x="629019" y="1257275"/>
                </a:lnTo>
                <a:lnTo>
                  <a:pt x="0" y="125727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696" r="-198108" t="0"/>
            </a:stretch>
          </a:blipFill>
          <a:ln>
            <a:noFill/>
          </a:ln>
        </p:spPr>
      </p:sp>
      <p:sp>
        <p:nvSpPr>
          <p:cNvPr id="165" name="Google Shape;165;p3"/>
          <p:cNvSpPr/>
          <p:nvPr/>
        </p:nvSpPr>
        <p:spPr>
          <a:xfrm>
            <a:off x="0" y="8196721"/>
            <a:ext cx="5084611" cy="1800697"/>
          </a:xfrm>
          <a:prstGeom prst="rect">
            <a:avLst/>
          </a:prstGeom>
          <a:solidFill>
            <a:srgbClr val="FDFDFD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391339" y="8406668"/>
            <a:ext cx="4301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8B6B62"/>
                </a:solidFill>
                <a:latin typeface="Arial"/>
                <a:ea typeface="Arial"/>
                <a:cs typeface="Arial"/>
                <a:sym typeface="Arial"/>
              </a:rPr>
              <a:t>Automatic Documentation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207118" y="8882918"/>
            <a:ext cx="4670376" cy="72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7" u="none" cap="none" strike="noStrike">
                <a:solidFill>
                  <a:srgbClr val="8B6B62"/>
                </a:solidFill>
                <a:latin typeface="DM Sans"/>
                <a:ea typeface="DM Sans"/>
                <a:cs typeface="DM Sans"/>
                <a:sym typeface="DM Sans"/>
              </a:rPr>
              <a:t>effortlessly track historical menstrual data without manual input.</a:t>
            </a:r>
            <a:endParaRPr/>
          </a:p>
        </p:txBody>
      </p:sp>
      <p:grpSp>
        <p:nvGrpSpPr>
          <p:cNvPr id="168" name="Google Shape;168;p3"/>
          <p:cNvGrpSpPr/>
          <p:nvPr/>
        </p:nvGrpSpPr>
        <p:grpSpPr>
          <a:xfrm>
            <a:off x="13187703" y="8196721"/>
            <a:ext cx="5084611" cy="1800697"/>
            <a:chOff x="0" y="0"/>
            <a:chExt cx="6779481" cy="2400929"/>
          </a:xfrm>
        </p:grpSpPr>
        <p:sp>
          <p:nvSpPr>
            <p:cNvPr id="169" name="Google Shape;169;p3"/>
            <p:cNvSpPr/>
            <p:nvPr/>
          </p:nvSpPr>
          <p:spPr>
            <a:xfrm>
              <a:off x="0" y="0"/>
              <a:ext cx="6779481" cy="2400929"/>
            </a:xfrm>
            <a:prstGeom prst="rect">
              <a:avLst/>
            </a:prstGeom>
            <a:solidFill>
              <a:srgbClr val="FDFDFD">
                <a:alpha val="6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243959" y="292629"/>
              <a:ext cx="4680058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7" u="none" cap="none" strike="noStrike">
                  <a:solidFill>
                    <a:srgbClr val="8B6B62"/>
                  </a:solidFill>
                  <a:latin typeface="Arial"/>
                  <a:ea typeface="Arial"/>
                  <a:cs typeface="Arial"/>
                  <a:sym typeface="Arial"/>
                </a:rPr>
                <a:t>             Insights</a:t>
              </a:r>
              <a:endParaRPr/>
            </a:p>
          </p:txBody>
        </p:sp>
      </p:grpSp>
      <p:sp>
        <p:nvSpPr>
          <p:cNvPr id="171" name="Google Shape;171;p3"/>
          <p:cNvSpPr txBox="1"/>
          <p:nvPr/>
        </p:nvSpPr>
        <p:spPr>
          <a:xfrm>
            <a:off x="13390435" y="8832152"/>
            <a:ext cx="4581960" cy="78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3" u="none" cap="none" strike="noStrike">
                <a:solidFill>
                  <a:srgbClr val="8B6B62"/>
                </a:solidFill>
                <a:latin typeface="DM Sans"/>
                <a:ea typeface="DM Sans"/>
                <a:cs typeface="DM Sans"/>
                <a:sym typeface="DM Sans"/>
              </a:rPr>
              <a:t>Track your flow trends easily and accurately.</a:t>
            </a:r>
            <a:endParaRPr/>
          </a:p>
        </p:txBody>
      </p:sp>
      <p:grpSp>
        <p:nvGrpSpPr>
          <p:cNvPr id="172" name="Google Shape;172;p3"/>
          <p:cNvGrpSpPr/>
          <p:nvPr/>
        </p:nvGrpSpPr>
        <p:grpSpPr>
          <a:xfrm>
            <a:off x="6799833" y="8327140"/>
            <a:ext cx="4672648" cy="1670278"/>
            <a:chOff x="0" y="0"/>
            <a:chExt cx="6230198" cy="2227037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6230198" cy="2227037"/>
            </a:xfrm>
            <a:prstGeom prst="rect">
              <a:avLst/>
            </a:prstGeom>
            <a:solidFill>
              <a:srgbClr val="FDFDFD">
                <a:alpha val="6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247924" y="285200"/>
              <a:ext cx="572165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7" u="none" cap="none" strike="noStrike">
                  <a:solidFill>
                    <a:srgbClr val="8B6B62"/>
                  </a:solidFill>
                  <a:latin typeface="Arial"/>
                  <a:ea typeface="Arial"/>
                  <a:cs typeface="Arial"/>
                  <a:sym typeface="Arial"/>
                </a:rPr>
                <a:t>Real-time Tracking</a:t>
              </a: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247924" y="920551"/>
              <a:ext cx="5734351" cy="1027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73" u="none" cap="none" strike="noStrike">
                  <a:solidFill>
                    <a:srgbClr val="8B6B62"/>
                  </a:solidFill>
                  <a:latin typeface="DM Sans"/>
                  <a:ea typeface="DM Sans"/>
                  <a:cs typeface="DM Sans"/>
                  <a:sym typeface="DM Sans"/>
                </a:rPr>
                <a:t>Track your cycle and flow with instant notifications.</a:t>
              </a:r>
              <a:endParaRPr/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448160" y="207321"/>
            <a:ext cx="3524235" cy="1330141"/>
            <a:chOff x="0" y="0"/>
            <a:chExt cx="4698980" cy="1773521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178" name="Google Shape;178;p3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  <p:sp>
        <p:nvSpPr>
          <p:cNvPr id="179" name="Google Shape;179;p3"/>
          <p:cNvSpPr txBox="1"/>
          <p:nvPr/>
        </p:nvSpPr>
        <p:spPr>
          <a:xfrm>
            <a:off x="2181410" y="1028700"/>
            <a:ext cx="1316126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User Experience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4"/>
          <p:cNvGrpSpPr/>
          <p:nvPr/>
        </p:nvGrpSpPr>
        <p:grpSpPr>
          <a:xfrm>
            <a:off x="4256570" y="8471642"/>
            <a:ext cx="14031430" cy="1815358"/>
            <a:chOff x="0" y="-47625"/>
            <a:chExt cx="3695521" cy="478119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3695521" cy="430494"/>
            </a:xfrm>
            <a:custGeom>
              <a:rect b="b" l="l" r="r" t="t"/>
              <a:pathLst>
                <a:path extrusionOk="0" h="430494" w="3695521">
                  <a:moveTo>
                    <a:pt x="0" y="0"/>
                  </a:moveTo>
                  <a:lnTo>
                    <a:pt x="3695521" y="0"/>
                  </a:lnTo>
                  <a:lnTo>
                    <a:pt x="3695521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C69A8E"/>
            </a:solidFill>
            <a:ln>
              <a:noFill/>
            </a:ln>
          </p:spPr>
        </p:sp>
        <p:sp>
          <p:nvSpPr>
            <p:cNvPr id="186" name="Google Shape;186;p4"/>
            <p:cNvSpPr txBox="1"/>
            <p:nvPr/>
          </p:nvSpPr>
          <p:spPr>
            <a:xfrm>
              <a:off x="0" y="-47625"/>
              <a:ext cx="3695521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4"/>
          <p:cNvGrpSpPr/>
          <p:nvPr/>
        </p:nvGrpSpPr>
        <p:grpSpPr>
          <a:xfrm>
            <a:off x="3056774" y="9258300"/>
            <a:ext cx="15524903" cy="2696661"/>
            <a:chOff x="0" y="0"/>
            <a:chExt cx="20699871" cy="3595548"/>
          </a:xfrm>
        </p:grpSpPr>
        <p:sp>
          <p:nvSpPr>
            <p:cNvPr id="188" name="Google Shape;188;p4"/>
            <p:cNvSpPr/>
            <p:nvPr/>
          </p:nvSpPr>
          <p:spPr>
            <a:xfrm>
              <a:off x="14129933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9" name="Google Shape;189;p4"/>
            <p:cNvSpPr/>
            <p:nvPr/>
          </p:nvSpPr>
          <p:spPr>
            <a:xfrm>
              <a:off x="7065238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0" name="Google Shape;190;p4"/>
            <p:cNvSpPr/>
            <p:nvPr/>
          </p:nvSpPr>
          <p:spPr>
            <a:xfrm>
              <a:off x="0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91" name="Google Shape;191;p4"/>
          <p:cNvGrpSpPr/>
          <p:nvPr/>
        </p:nvGrpSpPr>
        <p:grpSpPr>
          <a:xfrm>
            <a:off x="0" y="8481167"/>
            <a:ext cx="4256570" cy="1815358"/>
            <a:chOff x="0" y="-47625"/>
            <a:chExt cx="1121072" cy="478119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1121072" cy="430494"/>
            </a:xfrm>
            <a:custGeom>
              <a:rect b="b" l="l" r="r" t="t"/>
              <a:pathLst>
                <a:path extrusionOk="0" h="430494" w="1121072">
                  <a:moveTo>
                    <a:pt x="0" y="0"/>
                  </a:moveTo>
                  <a:lnTo>
                    <a:pt x="1121072" y="0"/>
                  </a:lnTo>
                  <a:lnTo>
                    <a:pt x="1121072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2B5A8"/>
            </a:solidFill>
            <a:ln>
              <a:noFill/>
            </a:ln>
          </p:spPr>
        </p:sp>
        <p:sp>
          <p:nvSpPr>
            <p:cNvPr id="193" name="Google Shape;193;p4"/>
            <p:cNvSpPr txBox="1"/>
            <p:nvPr/>
          </p:nvSpPr>
          <p:spPr>
            <a:xfrm>
              <a:off x="0" y="-47625"/>
              <a:ext cx="1121072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4"/>
          <p:cNvSpPr/>
          <p:nvPr/>
        </p:nvSpPr>
        <p:spPr>
          <a:xfrm>
            <a:off x="3970782" y="3148817"/>
            <a:ext cx="10848935" cy="6132110"/>
          </a:xfrm>
          <a:custGeom>
            <a:rect b="b" l="l" r="r" t="t"/>
            <a:pathLst>
              <a:path extrusionOk="0" h="6132110" w="10848935">
                <a:moveTo>
                  <a:pt x="0" y="0"/>
                </a:moveTo>
                <a:lnTo>
                  <a:pt x="10848935" y="0"/>
                </a:lnTo>
                <a:lnTo>
                  <a:pt x="10848935" y="6132110"/>
                </a:lnTo>
                <a:lnTo>
                  <a:pt x="0" y="613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17945"/>
            </a:stretch>
          </a:blipFill>
          <a:ln>
            <a:noFill/>
          </a:ln>
        </p:spPr>
      </p:sp>
      <p:sp>
        <p:nvSpPr>
          <p:cNvPr id="195" name="Google Shape;195;p4"/>
          <p:cNvSpPr txBox="1"/>
          <p:nvPr/>
        </p:nvSpPr>
        <p:spPr>
          <a:xfrm>
            <a:off x="-675933" y="6791435"/>
            <a:ext cx="6343758" cy="993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7EB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Paper-thin IoT Tag</a:t>
            </a:r>
            <a:endParaRPr/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7EB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seamlessly tampon</a:t>
            </a:r>
            <a:endParaRPr/>
          </a:p>
        </p:txBody>
      </p:sp>
      <p:grpSp>
        <p:nvGrpSpPr>
          <p:cNvPr id="196" name="Google Shape;196;p4"/>
          <p:cNvGrpSpPr/>
          <p:nvPr/>
        </p:nvGrpSpPr>
        <p:grpSpPr>
          <a:xfrm rot="10800000">
            <a:off x="11961844" y="2639230"/>
            <a:ext cx="6326156" cy="1219051"/>
            <a:chOff x="0" y="-47625"/>
            <a:chExt cx="1666148" cy="321067"/>
          </a:xfrm>
        </p:grpSpPr>
        <p:sp>
          <p:nvSpPr>
            <p:cNvPr id="197" name="Google Shape;197;p4"/>
            <p:cNvSpPr/>
            <p:nvPr/>
          </p:nvSpPr>
          <p:spPr>
            <a:xfrm>
              <a:off x="0" y="0"/>
              <a:ext cx="1666148" cy="273442"/>
            </a:xfrm>
            <a:custGeom>
              <a:rect b="b" l="l" r="r" t="t"/>
              <a:pathLst>
                <a:path extrusionOk="0" h="273442" w="1666148">
                  <a:moveTo>
                    <a:pt x="1454415" y="0"/>
                  </a:moveTo>
                  <a:lnTo>
                    <a:pt x="18250" y="0"/>
                  </a:lnTo>
                  <a:cubicBezTo>
                    <a:pt x="8171" y="0"/>
                    <a:pt x="0" y="8171"/>
                    <a:pt x="0" y="18250"/>
                  </a:cubicBezTo>
                  <a:lnTo>
                    <a:pt x="0" y="255191"/>
                  </a:lnTo>
                  <a:cubicBezTo>
                    <a:pt x="0" y="260032"/>
                    <a:pt x="1923" y="264674"/>
                    <a:pt x="5345" y="268097"/>
                  </a:cubicBezTo>
                  <a:cubicBezTo>
                    <a:pt x="8768" y="271519"/>
                    <a:pt x="13410" y="273442"/>
                    <a:pt x="18250" y="273442"/>
                  </a:cubicBezTo>
                  <a:lnTo>
                    <a:pt x="1454415" y="273442"/>
                  </a:lnTo>
                  <a:cubicBezTo>
                    <a:pt x="1466311" y="273442"/>
                    <a:pt x="1477937" y="269895"/>
                    <a:pt x="1487807" y="263254"/>
                  </a:cubicBezTo>
                  <a:lnTo>
                    <a:pt x="1660723" y="146909"/>
                  </a:lnTo>
                  <a:cubicBezTo>
                    <a:pt x="1664114" y="144628"/>
                    <a:pt x="1666148" y="140808"/>
                    <a:pt x="1666148" y="136721"/>
                  </a:cubicBezTo>
                  <a:cubicBezTo>
                    <a:pt x="1666148" y="132634"/>
                    <a:pt x="1664114" y="128814"/>
                    <a:pt x="1660723" y="126533"/>
                  </a:cubicBezTo>
                  <a:lnTo>
                    <a:pt x="1487807" y="10188"/>
                  </a:lnTo>
                  <a:cubicBezTo>
                    <a:pt x="1477937" y="3547"/>
                    <a:pt x="1466311" y="0"/>
                    <a:pt x="1454415" y="0"/>
                  </a:cubicBezTo>
                  <a:close/>
                </a:path>
              </a:pathLst>
            </a:custGeom>
            <a:solidFill>
              <a:srgbClr val="BF918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0" y="-47625"/>
              <a:ext cx="1561565" cy="32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4"/>
          <p:cNvSpPr txBox="1"/>
          <p:nvPr/>
        </p:nvSpPr>
        <p:spPr>
          <a:xfrm>
            <a:off x="12642204" y="2867703"/>
            <a:ext cx="6343758" cy="56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7EB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Electrical-property sensing</a:t>
            </a:r>
            <a:endParaRPr/>
          </a:p>
        </p:txBody>
      </p:sp>
      <p:grpSp>
        <p:nvGrpSpPr>
          <p:cNvPr id="200" name="Google Shape;200;p4"/>
          <p:cNvGrpSpPr/>
          <p:nvPr/>
        </p:nvGrpSpPr>
        <p:grpSpPr>
          <a:xfrm rot="10800000">
            <a:off x="13828904" y="6092042"/>
            <a:ext cx="4459096" cy="1219051"/>
            <a:chOff x="0" y="-47625"/>
            <a:chExt cx="1174412" cy="321067"/>
          </a:xfrm>
        </p:grpSpPr>
        <p:sp>
          <p:nvSpPr>
            <p:cNvPr id="201" name="Google Shape;201;p4"/>
            <p:cNvSpPr/>
            <p:nvPr/>
          </p:nvSpPr>
          <p:spPr>
            <a:xfrm>
              <a:off x="0" y="0"/>
              <a:ext cx="1174412" cy="273442"/>
            </a:xfrm>
            <a:custGeom>
              <a:rect b="b" l="l" r="r" t="t"/>
              <a:pathLst>
                <a:path extrusionOk="0" h="273442" w="1174412">
                  <a:moveTo>
                    <a:pt x="959176" y="0"/>
                  </a:moveTo>
                  <a:lnTo>
                    <a:pt x="25743" y="0"/>
                  </a:lnTo>
                  <a:cubicBezTo>
                    <a:pt x="11525" y="0"/>
                    <a:pt x="0" y="11525"/>
                    <a:pt x="0" y="25743"/>
                  </a:cubicBezTo>
                  <a:lnTo>
                    <a:pt x="0" y="247699"/>
                  </a:lnTo>
                  <a:cubicBezTo>
                    <a:pt x="0" y="261917"/>
                    <a:pt x="11525" y="273442"/>
                    <a:pt x="25743" y="273442"/>
                  </a:cubicBezTo>
                  <a:lnTo>
                    <a:pt x="959176" y="273442"/>
                  </a:lnTo>
                  <a:cubicBezTo>
                    <a:pt x="975956" y="273442"/>
                    <a:pt x="992355" y="268439"/>
                    <a:pt x="1006277" y="259071"/>
                  </a:cubicBezTo>
                  <a:lnTo>
                    <a:pt x="1166761" y="151092"/>
                  </a:lnTo>
                  <a:cubicBezTo>
                    <a:pt x="1171544" y="147873"/>
                    <a:pt x="1174412" y="142486"/>
                    <a:pt x="1174412" y="136721"/>
                  </a:cubicBezTo>
                  <a:cubicBezTo>
                    <a:pt x="1174412" y="130956"/>
                    <a:pt x="1171544" y="125569"/>
                    <a:pt x="1166761" y="122350"/>
                  </a:cubicBezTo>
                  <a:lnTo>
                    <a:pt x="1006277" y="14371"/>
                  </a:lnTo>
                  <a:cubicBezTo>
                    <a:pt x="992355" y="5003"/>
                    <a:pt x="975956" y="0"/>
                    <a:pt x="959176" y="0"/>
                  </a:cubicBezTo>
                  <a:close/>
                </a:path>
              </a:pathLst>
            </a:custGeom>
            <a:solidFill>
              <a:srgbClr val="BF918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 txBox="1"/>
            <p:nvPr/>
          </p:nvSpPr>
          <p:spPr>
            <a:xfrm>
              <a:off x="0" y="-47625"/>
              <a:ext cx="1073819" cy="32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4"/>
          <p:cNvGrpSpPr/>
          <p:nvPr/>
        </p:nvGrpSpPr>
        <p:grpSpPr>
          <a:xfrm>
            <a:off x="-248879" y="7063741"/>
            <a:ext cx="5874730" cy="1116058"/>
            <a:chOff x="0" y="-47625"/>
            <a:chExt cx="1547254" cy="293941"/>
          </a:xfrm>
        </p:grpSpPr>
        <p:sp>
          <p:nvSpPr>
            <p:cNvPr id="204" name="Google Shape;204;p4"/>
            <p:cNvSpPr/>
            <p:nvPr/>
          </p:nvSpPr>
          <p:spPr>
            <a:xfrm>
              <a:off x="0" y="0"/>
              <a:ext cx="1547254" cy="246316"/>
            </a:xfrm>
            <a:custGeom>
              <a:rect b="b" l="l" r="r" t="t"/>
              <a:pathLst>
                <a:path extrusionOk="0" h="246316" w="1547254">
                  <a:moveTo>
                    <a:pt x="1335481" y="0"/>
                  </a:moveTo>
                  <a:lnTo>
                    <a:pt x="19627" y="0"/>
                  </a:lnTo>
                  <a:cubicBezTo>
                    <a:pt x="14422" y="0"/>
                    <a:pt x="9430" y="2068"/>
                    <a:pt x="5749" y="5749"/>
                  </a:cubicBezTo>
                  <a:cubicBezTo>
                    <a:pt x="2068" y="9430"/>
                    <a:pt x="0" y="14422"/>
                    <a:pt x="0" y="19627"/>
                  </a:cubicBezTo>
                  <a:lnTo>
                    <a:pt x="0" y="226689"/>
                  </a:lnTo>
                  <a:cubicBezTo>
                    <a:pt x="0" y="231894"/>
                    <a:pt x="2068" y="236887"/>
                    <a:pt x="5749" y="240568"/>
                  </a:cubicBezTo>
                  <a:cubicBezTo>
                    <a:pt x="9430" y="244248"/>
                    <a:pt x="14422" y="246316"/>
                    <a:pt x="19627" y="246316"/>
                  </a:cubicBezTo>
                  <a:lnTo>
                    <a:pt x="1335481" y="246316"/>
                  </a:lnTo>
                  <a:cubicBezTo>
                    <a:pt x="1348321" y="246316"/>
                    <a:pt x="1360914" y="242798"/>
                    <a:pt x="1371894" y="236143"/>
                  </a:cubicBezTo>
                  <a:lnTo>
                    <a:pt x="1541524" y="133331"/>
                  </a:lnTo>
                  <a:cubicBezTo>
                    <a:pt x="1545081" y="131175"/>
                    <a:pt x="1547254" y="127318"/>
                    <a:pt x="1547254" y="123158"/>
                  </a:cubicBezTo>
                  <a:cubicBezTo>
                    <a:pt x="1547254" y="118998"/>
                    <a:pt x="1545081" y="115141"/>
                    <a:pt x="1541524" y="112985"/>
                  </a:cubicBezTo>
                  <a:lnTo>
                    <a:pt x="1371894" y="10173"/>
                  </a:lnTo>
                  <a:cubicBezTo>
                    <a:pt x="1360914" y="3519"/>
                    <a:pt x="1348321" y="0"/>
                    <a:pt x="1335481" y="0"/>
                  </a:cubicBezTo>
                  <a:close/>
                </a:path>
              </a:pathLst>
            </a:custGeom>
            <a:solidFill>
              <a:srgbClr val="BF918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0" y="-47625"/>
              <a:ext cx="1444009" cy="2939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4"/>
          <p:cNvSpPr txBox="1"/>
          <p:nvPr/>
        </p:nvSpPr>
        <p:spPr>
          <a:xfrm>
            <a:off x="512332" y="7421544"/>
            <a:ext cx="5088885" cy="56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7EB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POC in progress</a:t>
            </a:r>
            <a:endParaRPr/>
          </a:p>
        </p:txBody>
      </p:sp>
      <p:grpSp>
        <p:nvGrpSpPr>
          <p:cNvPr id="207" name="Google Shape;207;p4"/>
          <p:cNvGrpSpPr/>
          <p:nvPr/>
        </p:nvGrpSpPr>
        <p:grpSpPr>
          <a:xfrm>
            <a:off x="-248879" y="3959810"/>
            <a:ext cx="5435057" cy="1219051"/>
            <a:chOff x="0" y="-47625"/>
            <a:chExt cx="1431455" cy="321067"/>
          </a:xfrm>
        </p:grpSpPr>
        <p:sp>
          <p:nvSpPr>
            <p:cNvPr id="208" name="Google Shape;208;p4"/>
            <p:cNvSpPr/>
            <p:nvPr/>
          </p:nvSpPr>
          <p:spPr>
            <a:xfrm>
              <a:off x="0" y="0"/>
              <a:ext cx="1431455" cy="273442"/>
            </a:xfrm>
            <a:custGeom>
              <a:rect b="b" l="l" r="r" t="t"/>
              <a:pathLst>
                <a:path extrusionOk="0" h="273442" w="1431455">
                  <a:moveTo>
                    <a:pt x="1218343" y="0"/>
                  </a:moveTo>
                  <a:lnTo>
                    <a:pt x="21199" y="0"/>
                  </a:lnTo>
                  <a:cubicBezTo>
                    <a:pt x="15577" y="0"/>
                    <a:pt x="10185" y="2234"/>
                    <a:pt x="6209" y="6209"/>
                  </a:cubicBezTo>
                  <a:cubicBezTo>
                    <a:pt x="2234" y="10185"/>
                    <a:pt x="0" y="15577"/>
                    <a:pt x="0" y="21199"/>
                  </a:cubicBezTo>
                  <a:lnTo>
                    <a:pt x="0" y="252243"/>
                  </a:lnTo>
                  <a:cubicBezTo>
                    <a:pt x="0" y="257865"/>
                    <a:pt x="2234" y="263257"/>
                    <a:pt x="6209" y="267233"/>
                  </a:cubicBezTo>
                  <a:cubicBezTo>
                    <a:pt x="10185" y="271208"/>
                    <a:pt x="15577" y="273442"/>
                    <a:pt x="21199" y="273442"/>
                  </a:cubicBezTo>
                  <a:lnTo>
                    <a:pt x="1218343" y="273442"/>
                  </a:lnTo>
                  <a:cubicBezTo>
                    <a:pt x="1232161" y="273442"/>
                    <a:pt x="1245666" y="269322"/>
                    <a:pt x="1257131" y="261608"/>
                  </a:cubicBezTo>
                  <a:lnTo>
                    <a:pt x="1425153" y="148555"/>
                  </a:lnTo>
                  <a:cubicBezTo>
                    <a:pt x="1429092" y="145905"/>
                    <a:pt x="1431455" y="141469"/>
                    <a:pt x="1431455" y="136721"/>
                  </a:cubicBezTo>
                  <a:cubicBezTo>
                    <a:pt x="1431455" y="131973"/>
                    <a:pt x="1429092" y="127537"/>
                    <a:pt x="1425153" y="124887"/>
                  </a:cubicBezTo>
                  <a:lnTo>
                    <a:pt x="1257131" y="11834"/>
                  </a:lnTo>
                  <a:cubicBezTo>
                    <a:pt x="1245666" y="4120"/>
                    <a:pt x="1232161" y="0"/>
                    <a:pt x="1218343" y="0"/>
                  </a:cubicBezTo>
                  <a:close/>
                </a:path>
              </a:pathLst>
            </a:custGeom>
            <a:solidFill>
              <a:srgbClr val="BF9184">
                <a:alpha val="8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"/>
            <p:cNvSpPr txBox="1"/>
            <p:nvPr/>
          </p:nvSpPr>
          <p:spPr>
            <a:xfrm>
              <a:off x="0" y="-47625"/>
              <a:ext cx="1328442" cy="321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4"/>
          <p:cNvSpPr txBox="1"/>
          <p:nvPr/>
        </p:nvSpPr>
        <p:spPr>
          <a:xfrm>
            <a:off x="134898" y="4340534"/>
            <a:ext cx="4922316" cy="56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7EB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Algorithm 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14374169" y="6296008"/>
            <a:ext cx="3951931" cy="1086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7EB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Paper-thin IoT Tag</a:t>
            </a:r>
            <a:endParaRPr/>
          </a:p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99" u="none" cap="none" strike="noStrike">
              <a:solidFill>
                <a:srgbClr val="F7EBE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10844" y="1028700"/>
            <a:ext cx="1646273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Practical Path - From Idea to Pilot</a:t>
            </a:r>
            <a:endParaRPr/>
          </a:p>
        </p:txBody>
      </p:sp>
      <p:grpSp>
        <p:nvGrpSpPr>
          <p:cNvPr id="213" name="Google Shape;213;p4"/>
          <p:cNvGrpSpPr/>
          <p:nvPr/>
        </p:nvGrpSpPr>
        <p:grpSpPr>
          <a:xfrm>
            <a:off x="0" y="8804664"/>
            <a:ext cx="3524235" cy="1330141"/>
            <a:chOff x="0" y="0"/>
            <a:chExt cx="4698980" cy="1773521"/>
          </a:xfrm>
        </p:grpSpPr>
        <p:sp>
          <p:nvSpPr>
            <p:cNvPr id="214" name="Google Shape;214;p4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215" name="Google Shape;215;p4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11891719" y="0"/>
            <a:ext cx="6074113" cy="4638414"/>
          </a:xfrm>
          <a:custGeom>
            <a:rect b="b" l="l" r="r" t="t"/>
            <a:pathLst>
              <a:path extrusionOk="0" h="4638414" w="6074113">
                <a:moveTo>
                  <a:pt x="0" y="0"/>
                </a:moveTo>
                <a:lnTo>
                  <a:pt x="6074113" y="0"/>
                </a:lnTo>
                <a:lnTo>
                  <a:pt x="6074113" y="4638414"/>
                </a:lnTo>
                <a:lnTo>
                  <a:pt x="0" y="4638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5"/>
          <p:cNvSpPr/>
          <p:nvPr/>
        </p:nvSpPr>
        <p:spPr>
          <a:xfrm flipH="1">
            <a:off x="12681970" y="7997151"/>
            <a:ext cx="6074113" cy="4638414"/>
          </a:xfrm>
          <a:custGeom>
            <a:rect b="b" l="l" r="r" t="t"/>
            <a:pathLst>
              <a:path extrusionOk="0" h="4638414" w="6074113">
                <a:moveTo>
                  <a:pt x="0" y="4638414"/>
                </a:moveTo>
                <a:lnTo>
                  <a:pt x="6074113" y="4638414"/>
                </a:lnTo>
                <a:lnTo>
                  <a:pt x="6074113" y="0"/>
                </a:lnTo>
                <a:lnTo>
                  <a:pt x="0" y="0"/>
                </a:lnTo>
                <a:lnTo>
                  <a:pt x="0" y="4638414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2" name="Google Shape;222;p5"/>
          <p:cNvGrpSpPr/>
          <p:nvPr/>
        </p:nvGrpSpPr>
        <p:grpSpPr>
          <a:xfrm>
            <a:off x="0" y="8471642"/>
            <a:ext cx="18288000" cy="1815358"/>
            <a:chOff x="0" y="-47625"/>
            <a:chExt cx="4816593" cy="478119"/>
          </a:xfrm>
        </p:grpSpPr>
        <p:sp>
          <p:nvSpPr>
            <p:cNvPr id="223" name="Google Shape;223;p5"/>
            <p:cNvSpPr/>
            <p:nvPr/>
          </p:nvSpPr>
          <p:spPr>
            <a:xfrm>
              <a:off x="0" y="0"/>
              <a:ext cx="4816592" cy="430494"/>
            </a:xfrm>
            <a:custGeom>
              <a:rect b="b" l="l" r="r" t="t"/>
              <a:pathLst>
                <a:path extrusionOk="0" h="4304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C69A8E"/>
            </a:solidFill>
            <a:ln>
              <a:noFill/>
            </a:ln>
          </p:spPr>
        </p:sp>
        <p:sp>
          <p:nvSpPr>
            <p:cNvPr id="224" name="Google Shape;224;p5"/>
            <p:cNvSpPr txBox="1"/>
            <p:nvPr/>
          </p:nvSpPr>
          <p:spPr>
            <a:xfrm>
              <a:off x="0" y="-47625"/>
              <a:ext cx="4816593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5"/>
          <p:cNvSpPr/>
          <p:nvPr/>
        </p:nvSpPr>
        <p:spPr>
          <a:xfrm flipH="1" rot="10800000">
            <a:off x="12213887" y="3637488"/>
            <a:ext cx="6074113" cy="4638414"/>
          </a:xfrm>
          <a:custGeom>
            <a:rect b="b" l="l" r="r" t="t"/>
            <a:pathLst>
              <a:path extrusionOk="0" h="4638414" w="6074113">
                <a:moveTo>
                  <a:pt x="0" y="4638413"/>
                </a:moveTo>
                <a:lnTo>
                  <a:pt x="6074113" y="4638413"/>
                </a:lnTo>
                <a:lnTo>
                  <a:pt x="6074113" y="0"/>
                </a:lnTo>
                <a:lnTo>
                  <a:pt x="0" y="0"/>
                </a:lnTo>
                <a:lnTo>
                  <a:pt x="0" y="4638413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6" name="Google Shape;226;p5"/>
          <p:cNvGrpSpPr/>
          <p:nvPr/>
        </p:nvGrpSpPr>
        <p:grpSpPr>
          <a:xfrm>
            <a:off x="0" y="9396349"/>
            <a:ext cx="18095640" cy="3143014"/>
            <a:chOff x="0" y="0"/>
            <a:chExt cx="24127520" cy="4190686"/>
          </a:xfrm>
        </p:grpSpPr>
        <p:sp>
          <p:nvSpPr>
            <p:cNvPr id="227" name="Google Shape;227;p5"/>
            <p:cNvSpPr/>
            <p:nvPr/>
          </p:nvSpPr>
          <p:spPr>
            <a:xfrm>
              <a:off x="0" y="0"/>
              <a:ext cx="7657400" cy="4190686"/>
            </a:xfrm>
            <a:custGeom>
              <a:rect b="b" l="l" r="r" t="t"/>
              <a:pathLst>
                <a:path extrusionOk="0" h="4190686" w="7657400">
                  <a:moveTo>
                    <a:pt x="0" y="0"/>
                  </a:moveTo>
                  <a:lnTo>
                    <a:pt x="7657400" y="0"/>
                  </a:lnTo>
                  <a:lnTo>
                    <a:pt x="7657400" y="4190686"/>
                  </a:lnTo>
                  <a:lnTo>
                    <a:pt x="0" y="41906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8" name="Google Shape;228;p5"/>
            <p:cNvSpPr/>
            <p:nvPr/>
          </p:nvSpPr>
          <p:spPr>
            <a:xfrm>
              <a:off x="16470120" y="0"/>
              <a:ext cx="7657400" cy="4190686"/>
            </a:xfrm>
            <a:custGeom>
              <a:rect b="b" l="l" r="r" t="t"/>
              <a:pathLst>
                <a:path extrusionOk="0" h="4190686" w="7657400">
                  <a:moveTo>
                    <a:pt x="0" y="0"/>
                  </a:moveTo>
                  <a:lnTo>
                    <a:pt x="7657399" y="0"/>
                  </a:lnTo>
                  <a:lnTo>
                    <a:pt x="7657399" y="4190686"/>
                  </a:lnTo>
                  <a:lnTo>
                    <a:pt x="0" y="41906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9" name="Google Shape;229;p5"/>
            <p:cNvSpPr/>
            <p:nvPr/>
          </p:nvSpPr>
          <p:spPr>
            <a:xfrm>
              <a:off x="8236072" y="0"/>
              <a:ext cx="7657400" cy="4190686"/>
            </a:xfrm>
            <a:custGeom>
              <a:rect b="b" l="l" r="r" t="t"/>
              <a:pathLst>
                <a:path extrusionOk="0" h="4190686" w="7657400">
                  <a:moveTo>
                    <a:pt x="0" y="0"/>
                  </a:moveTo>
                  <a:lnTo>
                    <a:pt x="7657400" y="0"/>
                  </a:lnTo>
                  <a:lnTo>
                    <a:pt x="7657400" y="4190686"/>
                  </a:lnTo>
                  <a:lnTo>
                    <a:pt x="0" y="41906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aphicFrame>
        <p:nvGraphicFramePr>
          <p:cNvPr id="230" name="Google Shape;230;p5"/>
          <p:cNvGraphicFramePr/>
          <p:nvPr/>
        </p:nvGraphicFramePr>
        <p:xfrm>
          <a:off x="730852" y="2457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{2206237A-312D-456B-8B6E-7D024FC4B034}</a:tableStyleId>
              </a:tblPr>
              <a:tblGrid>
                <a:gridCol w="2954075"/>
                <a:gridCol w="3181750"/>
                <a:gridCol w="2703175"/>
                <a:gridCol w="2572100"/>
                <a:gridCol w="2495600"/>
                <a:gridCol w="2919600"/>
              </a:tblGrid>
              <a:tr h="180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7EBE3"/>
                          </a:solidFill>
                          <a:latin typeface="Ultra"/>
                          <a:ea typeface="Ultra"/>
                          <a:cs typeface="Ultra"/>
                          <a:sym typeface="Ultra"/>
                        </a:rPr>
                        <a:t>Product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7C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7EBE3"/>
                          </a:solidFill>
                          <a:latin typeface="Ultra"/>
                          <a:ea typeface="Ultra"/>
                          <a:cs typeface="Ultra"/>
                          <a:sym typeface="Ultra"/>
                        </a:rPr>
                        <a:t>Form-factor &amp; Offer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7C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7EBE3"/>
                          </a:solidFill>
                          <a:latin typeface="Ultra"/>
                          <a:ea typeface="Ultra"/>
                          <a:cs typeface="Ultra"/>
                          <a:sym typeface="Ultra"/>
                        </a:rPr>
                        <a:t>Real-Time Saturation Sensing ?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7C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7EBE3"/>
                          </a:solidFill>
                          <a:latin typeface="Ultra"/>
                          <a:ea typeface="Ultra"/>
                          <a:cs typeface="Ultra"/>
                          <a:sym typeface="Ultra"/>
                        </a:rPr>
                        <a:t>Auto Cycle Tracking ?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7C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7EBE3"/>
                          </a:solidFill>
                          <a:latin typeface="Ultra"/>
                          <a:ea typeface="Ultra"/>
                          <a:cs typeface="Ultra"/>
                          <a:sym typeface="Ultra"/>
                        </a:rPr>
                        <a:t>Leak Prediction Alerts ?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7C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7EBE3"/>
                          </a:solidFill>
                          <a:latin typeface="Ultra"/>
                          <a:ea typeface="Ultra"/>
                          <a:cs typeface="Ultra"/>
                          <a:sym typeface="Ultra"/>
                        </a:rPr>
                        <a:t>Disposable ?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7C71"/>
                    </a:solidFill>
                  </a:tcPr>
                </a:tc>
              </a:tr>
              <a:tr h="227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8B6B6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Regular Tampons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3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8B6B62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Disposable cotton/rayon tampon, passive absorption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30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8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83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3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</a:tr>
              <a:tr h="286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8B6B6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Disposable tampon embedded with IoT sensor. real-time saturation alerts via smartphone</a:t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30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6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6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6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71450" marB="171450" marR="171450" marL="171450" anchor="ctr">
                    <a:lnL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2B5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3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5"/>
          <p:cNvSpPr/>
          <p:nvPr/>
        </p:nvSpPr>
        <p:spPr>
          <a:xfrm>
            <a:off x="7752712" y="7616199"/>
            <a:ext cx="761351" cy="647148"/>
          </a:xfrm>
          <a:custGeom>
            <a:rect b="b" l="l" r="r" t="t"/>
            <a:pathLst>
              <a:path extrusionOk="0" h="647148" w="761351">
                <a:moveTo>
                  <a:pt x="0" y="0"/>
                </a:moveTo>
                <a:lnTo>
                  <a:pt x="761351" y="0"/>
                </a:lnTo>
                <a:lnTo>
                  <a:pt x="761351" y="647148"/>
                </a:lnTo>
                <a:lnTo>
                  <a:pt x="0" y="64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5"/>
          <p:cNvSpPr/>
          <p:nvPr/>
        </p:nvSpPr>
        <p:spPr>
          <a:xfrm>
            <a:off x="7615512" y="4884684"/>
            <a:ext cx="1035750" cy="1035750"/>
          </a:xfrm>
          <a:custGeom>
            <a:rect b="b" l="l" r="r" t="t"/>
            <a:pathLst>
              <a:path extrusionOk="0" h="1035750" w="1035750">
                <a:moveTo>
                  <a:pt x="0" y="0"/>
                </a:moveTo>
                <a:lnTo>
                  <a:pt x="1035750" y="0"/>
                </a:lnTo>
                <a:lnTo>
                  <a:pt x="1035750" y="1035750"/>
                </a:lnTo>
                <a:lnTo>
                  <a:pt x="0" y="1035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5"/>
          <p:cNvSpPr/>
          <p:nvPr/>
        </p:nvSpPr>
        <p:spPr>
          <a:xfrm>
            <a:off x="10456042" y="7616199"/>
            <a:ext cx="761351" cy="647148"/>
          </a:xfrm>
          <a:custGeom>
            <a:rect b="b" l="l" r="r" t="t"/>
            <a:pathLst>
              <a:path extrusionOk="0" h="647148" w="761351">
                <a:moveTo>
                  <a:pt x="0" y="0"/>
                </a:moveTo>
                <a:lnTo>
                  <a:pt x="761351" y="0"/>
                </a:lnTo>
                <a:lnTo>
                  <a:pt x="761351" y="647148"/>
                </a:lnTo>
                <a:lnTo>
                  <a:pt x="0" y="64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5"/>
          <p:cNvSpPr/>
          <p:nvPr/>
        </p:nvSpPr>
        <p:spPr>
          <a:xfrm>
            <a:off x="13087534" y="7616199"/>
            <a:ext cx="761351" cy="647148"/>
          </a:xfrm>
          <a:custGeom>
            <a:rect b="b" l="l" r="r" t="t"/>
            <a:pathLst>
              <a:path extrusionOk="0" h="647148" w="761351">
                <a:moveTo>
                  <a:pt x="0" y="0"/>
                </a:moveTo>
                <a:lnTo>
                  <a:pt x="761351" y="0"/>
                </a:lnTo>
                <a:lnTo>
                  <a:pt x="761351" y="647148"/>
                </a:lnTo>
                <a:lnTo>
                  <a:pt x="0" y="64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5"/>
          <p:cNvSpPr/>
          <p:nvPr/>
        </p:nvSpPr>
        <p:spPr>
          <a:xfrm>
            <a:off x="10318843" y="4884684"/>
            <a:ext cx="1035750" cy="1035750"/>
          </a:xfrm>
          <a:custGeom>
            <a:rect b="b" l="l" r="r" t="t"/>
            <a:pathLst>
              <a:path extrusionOk="0" h="1035750" w="1035750">
                <a:moveTo>
                  <a:pt x="0" y="0"/>
                </a:moveTo>
                <a:lnTo>
                  <a:pt x="1035750" y="0"/>
                </a:lnTo>
                <a:lnTo>
                  <a:pt x="1035750" y="1035750"/>
                </a:lnTo>
                <a:lnTo>
                  <a:pt x="0" y="1035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5"/>
          <p:cNvSpPr/>
          <p:nvPr/>
        </p:nvSpPr>
        <p:spPr>
          <a:xfrm>
            <a:off x="12874135" y="4910102"/>
            <a:ext cx="1035750" cy="1035750"/>
          </a:xfrm>
          <a:custGeom>
            <a:rect b="b" l="l" r="r" t="t"/>
            <a:pathLst>
              <a:path extrusionOk="0" h="1035750" w="1035750">
                <a:moveTo>
                  <a:pt x="0" y="0"/>
                </a:moveTo>
                <a:lnTo>
                  <a:pt x="1035750" y="0"/>
                </a:lnTo>
                <a:lnTo>
                  <a:pt x="1035750" y="1035750"/>
                </a:lnTo>
                <a:lnTo>
                  <a:pt x="0" y="1035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5"/>
          <p:cNvSpPr/>
          <p:nvPr/>
        </p:nvSpPr>
        <p:spPr>
          <a:xfrm>
            <a:off x="15719026" y="7628753"/>
            <a:ext cx="761351" cy="647148"/>
          </a:xfrm>
          <a:custGeom>
            <a:rect b="b" l="l" r="r" t="t"/>
            <a:pathLst>
              <a:path extrusionOk="0" h="647148" w="761351">
                <a:moveTo>
                  <a:pt x="0" y="0"/>
                </a:moveTo>
                <a:lnTo>
                  <a:pt x="761351" y="0"/>
                </a:lnTo>
                <a:lnTo>
                  <a:pt x="761351" y="647148"/>
                </a:lnTo>
                <a:lnTo>
                  <a:pt x="0" y="64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5"/>
          <p:cNvSpPr/>
          <p:nvPr/>
        </p:nvSpPr>
        <p:spPr>
          <a:xfrm>
            <a:off x="15719026" y="5078985"/>
            <a:ext cx="761351" cy="647148"/>
          </a:xfrm>
          <a:custGeom>
            <a:rect b="b" l="l" r="r" t="t"/>
            <a:pathLst>
              <a:path extrusionOk="0" h="647148" w="761351">
                <a:moveTo>
                  <a:pt x="0" y="0"/>
                </a:moveTo>
                <a:lnTo>
                  <a:pt x="761351" y="0"/>
                </a:lnTo>
                <a:lnTo>
                  <a:pt x="761351" y="647148"/>
                </a:lnTo>
                <a:lnTo>
                  <a:pt x="0" y="64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9" name="Google Shape;239;p5"/>
          <p:cNvGrpSpPr/>
          <p:nvPr/>
        </p:nvGrpSpPr>
        <p:grpSpPr>
          <a:xfrm>
            <a:off x="981075" y="6886946"/>
            <a:ext cx="2028979" cy="2220410"/>
            <a:chOff x="0" y="0"/>
            <a:chExt cx="2705305" cy="2960547"/>
          </a:xfrm>
        </p:grpSpPr>
        <p:sp>
          <p:nvSpPr>
            <p:cNvPr id="240" name="Google Shape;240;p5"/>
            <p:cNvSpPr/>
            <p:nvPr/>
          </p:nvSpPr>
          <p:spPr>
            <a:xfrm>
              <a:off x="0" y="0"/>
              <a:ext cx="1078043" cy="2960547"/>
            </a:xfrm>
            <a:custGeom>
              <a:rect b="b" l="l" r="r" t="t"/>
              <a:pathLst>
                <a:path extrusionOk="0" h="2960547" w="1078043">
                  <a:moveTo>
                    <a:pt x="0" y="0"/>
                  </a:moveTo>
                  <a:lnTo>
                    <a:pt x="1078043" y="0"/>
                  </a:lnTo>
                  <a:lnTo>
                    <a:pt x="1078043" y="2960547"/>
                  </a:lnTo>
                  <a:lnTo>
                    <a:pt x="0" y="29605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-192860" t="-6640"/>
              </a:stretch>
            </a:blipFill>
            <a:ln>
              <a:noFill/>
            </a:ln>
          </p:spPr>
        </p:sp>
        <p:sp>
          <p:nvSpPr>
            <p:cNvPr id="241" name="Google Shape;241;p5"/>
            <p:cNvSpPr txBox="1"/>
            <p:nvPr/>
          </p:nvSpPr>
          <p:spPr>
            <a:xfrm>
              <a:off x="1278407" y="969543"/>
              <a:ext cx="1426898" cy="725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  <p:sp>
        <p:nvSpPr>
          <p:cNvPr id="242" name="Google Shape;242;p5"/>
          <p:cNvSpPr/>
          <p:nvPr/>
        </p:nvSpPr>
        <p:spPr>
          <a:xfrm>
            <a:off x="937214" y="5559782"/>
            <a:ext cx="1288500" cy="430037"/>
          </a:xfrm>
          <a:custGeom>
            <a:rect b="b" l="l" r="r" t="t"/>
            <a:pathLst>
              <a:path extrusionOk="0" h="430037" w="1288500">
                <a:moveTo>
                  <a:pt x="0" y="0"/>
                </a:moveTo>
                <a:lnTo>
                  <a:pt x="1288499" y="0"/>
                </a:lnTo>
                <a:lnTo>
                  <a:pt x="1288499" y="430037"/>
                </a:lnTo>
                <a:lnTo>
                  <a:pt x="0" y="430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5"/>
          <p:cNvSpPr/>
          <p:nvPr/>
        </p:nvSpPr>
        <p:spPr>
          <a:xfrm>
            <a:off x="2386842" y="5429324"/>
            <a:ext cx="1170224" cy="527371"/>
          </a:xfrm>
          <a:custGeom>
            <a:rect b="b" l="l" r="r" t="t"/>
            <a:pathLst>
              <a:path extrusionOk="0" h="527371" w="1170224">
                <a:moveTo>
                  <a:pt x="0" y="0"/>
                </a:moveTo>
                <a:lnTo>
                  <a:pt x="1170224" y="0"/>
                </a:lnTo>
                <a:lnTo>
                  <a:pt x="1170224" y="527370"/>
                </a:lnTo>
                <a:lnTo>
                  <a:pt x="0" y="52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0217" l="0" r="0" t="-8465"/>
            </a:stretch>
          </a:blipFill>
          <a:ln>
            <a:noFill/>
          </a:ln>
        </p:spPr>
      </p:sp>
      <p:sp>
        <p:nvSpPr>
          <p:cNvPr id="244" name="Google Shape;244;p5"/>
          <p:cNvSpPr/>
          <p:nvPr/>
        </p:nvSpPr>
        <p:spPr>
          <a:xfrm>
            <a:off x="1750041" y="5920434"/>
            <a:ext cx="1121202" cy="543943"/>
          </a:xfrm>
          <a:custGeom>
            <a:rect b="b" l="l" r="r" t="t"/>
            <a:pathLst>
              <a:path extrusionOk="0" h="543943" w="1121202">
                <a:moveTo>
                  <a:pt x="0" y="0"/>
                </a:moveTo>
                <a:lnTo>
                  <a:pt x="1121201" y="0"/>
                </a:lnTo>
                <a:lnTo>
                  <a:pt x="1121201" y="543943"/>
                </a:lnTo>
                <a:lnTo>
                  <a:pt x="0" y="543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5944" l="0" r="0" t="0"/>
            </a:stretch>
          </a:blipFill>
          <a:ln>
            <a:noFill/>
          </a:ln>
        </p:spPr>
      </p:sp>
      <p:sp>
        <p:nvSpPr>
          <p:cNvPr id="245" name="Google Shape;245;p5"/>
          <p:cNvSpPr txBox="1"/>
          <p:nvPr/>
        </p:nvSpPr>
        <p:spPr>
          <a:xfrm>
            <a:off x="4022207" y="1028700"/>
            <a:ext cx="1024358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Competitor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/>
          <p:nvPr/>
        </p:nvSpPr>
        <p:spPr>
          <a:xfrm rot="-5400000">
            <a:off x="7418402" y="-6722482"/>
            <a:ext cx="3331575" cy="17475914"/>
          </a:xfrm>
          <a:custGeom>
            <a:rect b="b" l="l" r="r" t="t"/>
            <a:pathLst>
              <a:path extrusionOk="0" h="2707476" w="516148">
                <a:moveTo>
                  <a:pt x="516148" y="0"/>
                </a:moveTo>
                <a:lnTo>
                  <a:pt x="516148" y="2707476"/>
                </a:lnTo>
                <a:lnTo>
                  <a:pt x="0" y="2707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50" l="-94756" r="-424362" t="-149"/>
            </a:stretch>
          </a:blipFill>
          <a:ln cap="sq" cmpd="sng" w="9525">
            <a:solidFill>
              <a:srgbClr val="BF9184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51" name="Google Shape;251;p6"/>
          <p:cNvGrpSpPr/>
          <p:nvPr/>
        </p:nvGrpSpPr>
        <p:grpSpPr>
          <a:xfrm>
            <a:off x="4256570" y="8471642"/>
            <a:ext cx="14031430" cy="1815358"/>
            <a:chOff x="0" y="-47625"/>
            <a:chExt cx="3695521" cy="478119"/>
          </a:xfrm>
        </p:grpSpPr>
        <p:sp>
          <p:nvSpPr>
            <p:cNvPr id="252" name="Google Shape;252;p6"/>
            <p:cNvSpPr/>
            <p:nvPr/>
          </p:nvSpPr>
          <p:spPr>
            <a:xfrm>
              <a:off x="0" y="0"/>
              <a:ext cx="3695521" cy="430494"/>
            </a:xfrm>
            <a:custGeom>
              <a:rect b="b" l="l" r="r" t="t"/>
              <a:pathLst>
                <a:path extrusionOk="0" h="430494" w="3695521">
                  <a:moveTo>
                    <a:pt x="0" y="0"/>
                  </a:moveTo>
                  <a:lnTo>
                    <a:pt x="3695521" y="0"/>
                  </a:lnTo>
                  <a:lnTo>
                    <a:pt x="3695521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C69A8E"/>
            </a:solidFill>
            <a:ln>
              <a:noFill/>
            </a:ln>
          </p:spPr>
        </p:sp>
        <p:sp>
          <p:nvSpPr>
            <p:cNvPr id="253" name="Google Shape;253;p6"/>
            <p:cNvSpPr txBox="1"/>
            <p:nvPr/>
          </p:nvSpPr>
          <p:spPr>
            <a:xfrm>
              <a:off x="0" y="-47625"/>
              <a:ext cx="3695521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6"/>
          <p:cNvGrpSpPr/>
          <p:nvPr/>
        </p:nvGrpSpPr>
        <p:grpSpPr>
          <a:xfrm>
            <a:off x="3016351" y="9267825"/>
            <a:ext cx="15524903" cy="2696661"/>
            <a:chOff x="0" y="0"/>
            <a:chExt cx="20699871" cy="3595548"/>
          </a:xfrm>
        </p:grpSpPr>
        <p:sp>
          <p:nvSpPr>
            <p:cNvPr id="255" name="Google Shape;255;p6"/>
            <p:cNvSpPr/>
            <p:nvPr/>
          </p:nvSpPr>
          <p:spPr>
            <a:xfrm>
              <a:off x="14129933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6" name="Google Shape;256;p6"/>
            <p:cNvSpPr/>
            <p:nvPr/>
          </p:nvSpPr>
          <p:spPr>
            <a:xfrm>
              <a:off x="7065238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7" name="Google Shape;257;p6"/>
            <p:cNvSpPr/>
            <p:nvPr/>
          </p:nvSpPr>
          <p:spPr>
            <a:xfrm>
              <a:off x="0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58" name="Google Shape;258;p6"/>
          <p:cNvGrpSpPr/>
          <p:nvPr/>
        </p:nvGrpSpPr>
        <p:grpSpPr>
          <a:xfrm>
            <a:off x="0" y="8471642"/>
            <a:ext cx="4256570" cy="1815358"/>
            <a:chOff x="0" y="-47625"/>
            <a:chExt cx="1121072" cy="478119"/>
          </a:xfrm>
        </p:grpSpPr>
        <p:sp>
          <p:nvSpPr>
            <p:cNvPr id="259" name="Google Shape;259;p6"/>
            <p:cNvSpPr/>
            <p:nvPr/>
          </p:nvSpPr>
          <p:spPr>
            <a:xfrm>
              <a:off x="0" y="0"/>
              <a:ext cx="1121072" cy="430494"/>
            </a:xfrm>
            <a:custGeom>
              <a:rect b="b" l="l" r="r" t="t"/>
              <a:pathLst>
                <a:path extrusionOk="0" h="430494" w="1121072">
                  <a:moveTo>
                    <a:pt x="0" y="0"/>
                  </a:moveTo>
                  <a:lnTo>
                    <a:pt x="1121072" y="0"/>
                  </a:lnTo>
                  <a:lnTo>
                    <a:pt x="1121072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2B5A8"/>
            </a:solidFill>
            <a:ln>
              <a:noFill/>
            </a:ln>
          </p:spPr>
        </p:sp>
        <p:sp>
          <p:nvSpPr>
            <p:cNvPr id="260" name="Google Shape;260;p6"/>
            <p:cNvSpPr txBox="1"/>
            <p:nvPr/>
          </p:nvSpPr>
          <p:spPr>
            <a:xfrm>
              <a:off x="0" y="-47625"/>
              <a:ext cx="1121072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6"/>
          <p:cNvSpPr txBox="1"/>
          <p:nvPr/>
        </p:nvSpPr>
        <p:spPr>
          <a:xfrm>
            <a:off x="226861" y="6451099"/>
            <a:ext cx="3449796" cy="424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7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11880333" y="5998247"/>
            <a:ext cx="2642634" cy="14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IP Transfer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Patents, software, clinical data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1032272" y="4414686"/>
            <a:ext cx="10243585" cy="712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66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Business Model Overview</a:t>
            </a:r>
            <a:endParaRPr/>
          </a:p>
        </p:txBody>
      </p:sp>
      <p:grpSp>
        <p:nvGrpSpPr>
          <p:cNvPr id="264" name="Google Shape;264;p6"/>
          <p:cNvGrpSpPr/>
          <p:nvPr/>
        </p:nvGrpSpPr>
        <p:grpSpPr>
          <a:xfrm>
            <a:off x="9296400" y="6055397"/>
            <a:ext cx="1821002" cy="1518862"/>
            <a:chOff x="0" y="0"/>
            <a:chExt cx="2428002" cy="2025150"/>
          </a:xfrm>
        </p:grpSpPr>
        <p:sp>
          <p:nvSpPr>
            <p:cNvPr id="265" name="Google Shape;265;p6"/>
            <p:cNvSpPr/>
            <p:nvPr/>
          </p:nvSpPr>
          <p:spPr>
            <a:xfrm rot="-5400000">
              <a:off x="201426" y="-201426"/>
              <a:ext cx="2025150" cy="2428002"/>
            </a:xfrm>
            <a:custGeom>
              <a:rect b="b" l="l" r="r" t="t"/>
              <a:pathLst>
                <a:path extrusionOk="0" h="2428002" w="2025150">
                  <a:moveTo>
                    <a:pt x="0" y="0"/>
                  </a:moveTo>
                  <a:lnTo>
                    <a:pt x="2025150" y="0"/>
                  </a:lnTo>
                  <a:lnTo>
                    <a:pt x="2025150" y="2428002"/>
                  </a:lnTo>
                  <a:lnTo>
                    <a:pt x="0" y="24280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6" name="Google Shape;266;p6"/>
            <p:cNvSpPr/>
            <p:nvPr/>
          </p:nvSpPr>
          <p:spPr>
            <a:xfrm>
              <a:off x="472812" y="307159"/>
              <a:ext cx="1594956" cy="1329130"/>
            </a:xfrm>
            <a:custGeom>
              <a:rect b="b" l="l" r="r" t="t"/>
              <a:pathLst>
                <a:path extrusionOk="0" h="1329130" w="1594956">
                  <a:moveTo>
                    <a:pt x="0" y="0"/>
                  </a:moveTo>
                  <a:lnTo>
                    <a:pt x="1594956" y="0"/>
                  </a:lnTo>
                  <a:lnTo>
                    <a:pt x="1594956" y="1329130"/>
                  </a:lnTo>
                  <a:lnTo>
                    <a:pt x="0" y="13291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41175" l="-11850" r="-11429" t="-36189"/>
              </a:stretch>
            </a:blipFill>
            <a:ln>
              <a:noFill/>
            </a:ln>
          </p:spPr>
        </p:sp>
      </p:grpSp>
      <p:sp>
        <p:nvSpPr>
          <p:cNvPr id="267" name="Google Shape;267;p6"/>
          <p:cNvSpPr txBox="1"/>
          <p:nvPr/>
        </p:nvSpPr>
        <p:spPr>
          <a:xfrm>
            <a:off x="6597014" y="6092198"/>
            <a:ext cx="2648722" cy="1336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8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B2B Launch</a:t>
            </a:r>
            <a:endParaRPr/>
          </a:p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8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user base and data</a:t>
            </a:r>
            <a:endParaRPr/>
          </a:p>
        </p:txBody>
      </p:sp>
      <p:grpSp>
        <p:nvGrpSpPr>
          <p:cNvPr id="268" name="Google Shape;268;p6"/>
          <p:cNvGrpSpPr/>
          <p:nvPr/>
        </p:nvGrpSpPr>
        <p:grpSpPr>
          <a:xfrm>
            <a:off x="15103992" y="5967795"/>
            <a:ext cx="1821002" cy="1518862"/>
            <a:chOff x="0" y="0"/>
            <a:chExt cx="2428002" cy="2025150"/>
          </a:xfrm>
        </p:grpSpPr>
        <p:sp>
          <p:nvSpPr>
            <p:cNvPr id="269" name="Google Shape;269;p6"/>
            <p:cNvSpPr/>
            <p:nvPr/>
          </p:nvSpPr>
          <p:spPr>
            <a:xfrm rot="-5400000">
              <a:off x="201426" y="-201426"/>
              <a:ext cx="2025150" cy="2428002"/>
            </a:xfrm>
            <a:custGeom>
              <a:rect b="b" l="l" r="r" t="t"/>
              <a:pathLst>
                <a:path extrusionOk="0" h="2428002" w="2025150">
                  <a:moveTo>
                    <a:pt x="0" y="0"/>
                  </a:moveTo>
                  <a:lnTo>
                    <a:pt x="2025150" y="0"/>
                  </a:lnTo>
                  <a:lnTo>
                    <a:pt x="2025150" y="2428002"/>
                  </a:lnTo>
                  <a:lnTo>
                    <a:pt x="0" y="24280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0" name="Google Shape;270;p6"/>
            <p:cNvSpPr/>
            <p:nvPr/>
          </p:nvSpPr>
          <p:spPr>
            <a:xfrm>
              <a:off x="284042" y="353014"/>
              <a:ext cx="1926887" cy="1284592"/>
            </a:xfrm>
            <a:custGeom>
              <a:rect b="b" l="l" r="r" t="t"/>
              <a:pathLst>
                <a:path extrusionOk="0" h="1284592" w="1926887">
                  <a:moveTo>
                    <a:pt x="0" y="0"/>
                  </a:moveTo>
                  <a:lnTo>
                    <a:pt x="1926888" y="0"/>
                  </a:lnTo>
                  <a:lnTo>
                    <a:pt x="1926888" y="1284592"/>
                  </a:lnTo>
                  <a:lnTo>
                    <a:pt x="0" y="1284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7335" l="-18243" r="-16089" t="-64239"/>
              </a:stretch>
            </a:blipFill>
            <a:ln>
              <a:noFill/>
            </a:ln>
          </p:spPr>
        </p:sp>
      </p:grpSp>
      <p:sp>
        <p:nvSpPr>
          <p:cNvPr id="271" name="Google Shape;271;p6"/>
          <p:cNvSpPr txBox="1"/>
          <p:nvPr/>
        </p:nvSpPr>
        <p:spPr>
          <a:xfrm>
            <a:off x="1032272" y="6036336"/>
            <a:ext cx="2738082" cy="1438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 Core Tech</a:t>
            </a:r>
            <a:r>
              <a:rPr b="0" i="0" lang="en-US" sz="25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-prove safety and performance</a:t>
            </a:r>
            <a:endParaRPr/>
          </a:p>
        </p:txBody>
      </p:sp>
      <p:grpSp>
        <p:nvGrpSpPr>
          <p:cNvPr id="272" name="Google Shape;272;p6"/>
          <p:cNvGrpSpPr/>
          <p:nvPr/>
        </p:nvGrpSpPr>
        <p:grpSpPr>
          <a:xfrm>
            <a:off x="4256570" y="6055397"/>
            <a:ext cx="1711794" cy="1518862"/>
            <a:chOff x="1" y="0"/>
            <a:chExt cx="2282391" cy="2025150"/>
          </a:xfrm>
        </p:grpSpPr>
        <p:sp>
          <p:nvSpPr>
            <p:cNvPr id="273" name="Google Shape;273;p6"/>
            <p:cNvSpPr/>
            <p:nvPr/>
          </p:nvSpPr>
          <p:spPr>
            <a:xfrm rot="-5400000">
              <a:off x="128621" y="-128621"/>
              <a:ext cx="2025150" cy="2282391"/>
            </a:xfrm>
            <a:custGeom>
              <a:rect b="b" l="l" r="r" t="t"/>
              <a:pathLst>
                <a:path extrusionOk="0" h="2282391" w="2025150">
                  <a:moveTo>
                    <a:pt x="0" y="0"/>
                  </a:moveTo>
                  <a:lnTo>
                    <a:pt x="2025150" y="0"/>
                  </a:lnTo>
                  <a:lnTo>
                    <a:pt x="2025150" y="2282392"/>
                  </a:lnTo>
                  <a:lnTo>
                    <a:pt x="0" y="22823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3186" l="0" r="0" t="-3188"/>
              </a:stretch>
            </a:blipFill>
            <a:ln>
              <a:noFill/>
            </a:ln>
          </p:spPr>
        </p:sp>
        <p:sp>
          <p:nvSpPr>
            <p:cNvPr id="274" name="Google Shape;274;p6"/>
            <p:cNvSpPr/>
            <p:nvPr/>
          </p:nvSpPr>
          <p:spPr>
            <a:xfrm>
              <a:off x="429026" y="353014"/>
              <a:ext cx="1424339" cy="1355713"/>
            </a:xfrm>
            <a:custGeom>
              <a:rect b="b" l="l" r="r" t="t"/>
              <a:pathLst>
                <a:path extrusionOk="0" h="1355713" w="1424339">
                  <a:moveTo>
                    <a:pt x="0" y="0"/>
                  </a:moveTo>
                  <a:lnTo>
                    <a:pt x="1424339" y="0"/>
                  </a:lnTo>
                  <a:lnTo>
                    <a:pt x="1424339" y="1355713"/>
                  </a:lnTo>
                  <a:lnTo>
                    <a:pt x="0" y="13557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37530" l="-19100" r="-14550" t="-30819"/>
              </a:stretch>
            </a:blipFill>
            <a:ln>
              <a:noFill/>
            </a:ln>
          </p:spPr>
        </p:sp>
      </p:grpSp>
      <p:grpSp>
        <p:nvGrpSpPr>
          <p:cNvPr id="275" name="Google Shape;275;p6"/>
          <p:cNvGrpSpPr/>
          <p:nvPr/>
        </p:nvGrpSpPr>
        <p:grpSpPr>
          <a:xfrm>
            <a:off x="0" y="8804664"/>
            <a:ext cx="3524235" cy="1330141"/>
            <a:chOff x="0" y="0"/>
            <a:chExt cx="4698980" cy="1773521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277" name="Google Shape;277;p6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7"/>
          <p:cNvGrpSpPr/>
          <p:nvPr/>
        </p:nvGrpSpPr>
        <p:grpSpPr>
          <a:xfrm>
            <a:off x="0" y="2433041"/>
            <a:ext cx="18398995" cy="6292793"/>
            <a:chOff x="0" y="-47625"/>
            <a:chExt cx="4845826" cy="1657361"/>
          </a:xfrm>
        </p:grpSpPr>
        <p:sp>
          <p:nvSpPr>
            <p:cNvPr id="283" name="Google Shape;283;p7"/>
            <p:cNvSpPr/>
            <p:nvPr/>
          </p:nvSpPr>
          <p:spPr>
            <a:xfrm>
              <a:off x="0" y="0"/>
              <a:ext cx="4845826" cy="1609736"/>
            </a:xfrm>
            <a:custGeom>
              <a:rect b="b" l="l" r="r" t="t"/>
              <a:pathLst>
                <a:path extrusionOk="0" h="1609736" w="4845826">
                  <a:moveTo>
                    <a:pt x="0" y="0"/>
                  </a:moveTo>
                  <a:lnTo>
                    <a:pt x="4845826" y="0"/>
                  </a:lnTo>
                  <a:lnTo>
                    <a:pt x="4845826" y="1609736"/>
                  </a:lnTo>
                  <a:lnTo>
                    <a:pt x="0" y="1609736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284" name="Google Shape;284;p7"/>
            <p:cNvSpPr txBox="1"/>
            <p:nvPr/>
          </p:nvSpPr>
          <p:spPr>
            <a:xfrm>
              <a:off x="0" y="-47625"/>
              <a:ext cx="4845826" cy="16573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7"/>
          <p:cNvSpPr/>
          <p:nvPr/>
        </p:nvSpPr>
        <p:spPr>
          <a:xfrm rot="-5400000">
            <a:off x="11535052" y="9309523"/>
            <a:ext cx="6915167" cy="6812720"/>
          </a:xfrm>
          <a:custGeom>
            <a:rect b="b" l="l" r="r" t="t"/>
            <a:pathLst>
              <a:path extrusionOk="0" h="6812720" w="6915167">
                <a:moveTo>
                  <a:pt x="0" y="0"/>
                </a:moveTo>
                <a:lnTo>
                  <a:pt x="6915167" y="0"/>
                </a:lnTo>
                <a:lnTo>
                  <a:pt x="6915167" y="6812720"/>
                </a:lnTo>
                <a:lnTo>
                  <a:pt x="0" y="6812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6" name="Google Shape;286;p7"/>
          <p:cNvGrpSpPr/>
          <p:nvPr/>
        </p:nvGrpSpPr>
        <p:grpSpPr>
          <a:xfrm>
            <a:off x="4256570" y="8471642"/>
            <a:ext cx="14031430" cy="1815358"/>
            <a:chOff x="0" y="-47625"/>
            <a:chExt cx="3695521" cy="478119"/>
          </a:xfrm>
        </p:grpSpPr>
        <p:sp>
          <p:nvSpPr>
            <p:cNvPr id="287" name="Google Shape;287;p7"/>
            <p:cNvSpPr/>
            <p:nvPr/>
          </p:nvSpPr>
          <p:spPr>
            <a:xfrm>
              <a:off x="0" y="0"/>
              <a:ext cx="3695521" cy="430494"/>
            </a:xfrm>
            <a:custGeom>
              <a:rect b="b" l="l" r="r" t="t"/>
              <a:pathLst>
                <a:path extrusionOk="0" h="430494" w="3695521">
                  <a:moveTo>
                    <a:pt x="0" y="0"/>
                  </a:moveTo>
                  <a:lnTo>
                    <a:pt x="3695521" y="0"/>
                  </a:lnTo>
                  <a:lnTo>
                    <a:pt x="3695521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2B5A8"/>
            </a:solidFill>
            <a:ln>
              <a:noFill/>
            </a:ln>
          </p:spPr>
        </p:sp>
        <p:sp>
          <p:nvSpPr>
            <p:cNvPr id="288" name="Google Shape;288;p7"/>
            <p:cNvSpPr txBox="1"/>
            <p:nvPr/>
          </p:nvSpPr>
          <p:spPr>
            <a:xfrm>
              <a:off x="0" y="-47625"/>
              <a:ext cx="3695521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7"/>
          <p:cNvGrpSpPr/>
          <p:nvPr/>
        </p:nvGrpSpPr>
        <p:grpSpPr>
          <a:xfrm>
            <a:off x="3015457" y="9267825"/>
            <a:ext cx="15525797" cy="2696661"/>
            <a:chOff x="0" y="0"/>
            <a:chExt cx="20701063" cy="3595548"/>
          </a:xfrm>
        </p:grpSpPr>
        <p:sp>
          <p:nvSpPr>
            <p:cNvPr id="290" name="Google Shape;290;p7"/>
            <p:cNvSpPr/>
            <p:nvPr/>
          </p:nvSpPr>
          <p:spPr>
            <a:xfrm>
              <a:off x="0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1" name="Google Shape;291;p7"/>
            <p:cNvSpPr/>
            <p:nvPr/>
          </p:nvSpPr>
          <p:spPr>
            <a:xfrm>
              <a:off x="14131125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2" name="Google Shape;292;p7"/>
            <p:cNvSpPr/>
            <p:nvPr/>
          </p:nvSpPr>
          <p:spPr>
            <a:xfrm>
              <a:off x="7066431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93" name="Google Shape;293;p7"/>
          <p:cNvGrpSpPr/>
          <p:nvPr/>
        </p:nvGrpSpPr>
        <p:grpSpPr>
          <a:xfrm>
            <a:off x="83498" y="6960995"/>
            <a:ext cx="2853532" cy="1764839"/>
            <a:chOff x="0" y="-47625"/>
            <a:chExt cx="751547" cy="464813"/>
          </a:xfrm>
        </p:grpSpPr>
        <p:sp>
          <p:nvSpPr>
            <p:cNvPr id="294" name="Google Shape;294;p7"/>
            <p:cNvSpPr/>
            <p:nvPr/>
          </p:nvSpPr>
          <p:spPr>
            <a:xfrm>
              <a:off x="0" y="0"/>
              <a:ext cx="751547" cy="417188"/>
            </a:xfrm>
            <a:custGeom>
              <a:rect b="b" l="l" r="r" t="t"/>
              <a:pathLst>
                <a:path extrusionOk="0" h="417188" w="751547">
                  <a:moveTo>
                    <a:pt x="0" y="0"/>
                  </a:moveTo>
                  <a:lnTo>
                    <a:pt x="751547" y="0"/>
                  </a:lnTo>
                  <a:lnTo>
                    <a:pt x="751547" y="417188"/>
                  </a:lnTo>
                  <a:lnTo>
                    <a:pt x="0" y="417188"/>
                  </a:lnTo>
                  <a:close/>
                </a:path>
              </a:pathLst>
            </a:custGeom>
            <a:solidFill>
              <a:srgbClr val="E0C9C2">
                <a:alpha val="58823"/>
              </a:srgbClr>
            </a:solidFill>
            <a:ln>
              <a:noFill/>
            </a:ln>
          </p:spPr>
        </p:sp>
        <p:sp>
          <p:nvSpPr>
            <p:cNvPr id="295" name="Google Shape;295;p7"/>
            <p:cNvSpPr txBox="1"/>
            <p:nvPr/>
          </p:nvSpPr>
          <p:spPr>
            <a:xfrm>
              <a:off x="0" y="-47625"/>
              <a:ext cx="751547" cy="464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7"/>
          <p:cNvGrpSpPr/>
          <p:nvPr/>
        </p:nvGrpSpPr>
        <p:grpSpPr>
          <a:xfrm>
            <a:off x="0" y="8471642"/>
            <a:ext cx="4356722" cy="1815358"/>
            <a:chOff x="0" y="-47625"/>
            <a:chExt cx="1147449" cy="478119"/>
          </a:xfrm>
        </p:grpSpPr>
        <p:sp>
          <p:nvSpPr>
            <p:cNvPr id="297" name="Google Shape;297;p7"/>
            <p:cNvSpPr/>
            <p:nvPr/>
          </p:nvSpPr>
          <p:spPr>
            <a:xfrm>
              <a:off x="0" y="0"/>
              <a:ext cx="1147449" cy="430494"/>
            </a:xfrm>
            <a:custGeom>
              <a:rect b="b" l="l" r="r" t="t"/>
              <a:pathLst>
                <a:path extrusionOk="0" h="430494" w="1147449">
                  <a:moveTo>
                    <a:pt x="0" y="0"/>
                  </a:moveTo>
                  <a:lnTo>
                    <a:pt x="1147449" y="0"/>
                  </a:lnTo>
                  <a:lnTo>
                    <a:pt x="1147449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2B5A8"/>
            </a:solidFill>
            <a:ln>
              <a:noFill/>
            </a:ln>
          </p:spPr>
        </p:sp>
        <p:sp>
          <p:nvSpPr>
            <p:cNvPr id="298" name="Google Shape;298;p7"/>
            <p:cNvSpPr txBox="1"/>
            <p:nvPr/>
          </p:nvSpPr>
          <p:spPr>
            <a:xfrm>
              <a:off x="0" y="-47625"/>
              <a:ext cx="1147449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7"/>
          <p:cNvGrpSpPr/>
          <p:nvPr/>
        </p:nvGrpSpPr>
        <p:grpSpPr>
          <a:xfrm>
            <a:off x="0" y="8804664"/>
            <a:ext cx="3524235" cy="1330141"/>
            <a:chOff x="0" y="0"/>
            <a:chExt cx="4698980" cy="1773521"/>
          </a:xfrm>
        </p:grpSpPr>
        <p:sp>
          <p:nvSpPr>
            <p:cNvPr id="300" name="Google Shape;300;p7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301" name="Google Shape;301;p7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  <p:grpSp>
        <p:nvGrpSpPr>
          <p:cNvPr id="302" name="Google Shape;302;p7"/>
          <p:cNvGrpSpPr/>
          <p:nvPr/>
        </p:nvGrpSpPr>
        <p:grpSpPr>
          <a:xfrm>
            <a:off x="6357202" y="5043519"/>
            <a:ext cx="2601709" cy="1345343"/>
            <a:chOff x="0" y="-9525"/>
            <a:chExt cx="3468945" cy="1793790"/>
          </a:xfrm>
        </p:grpSpPr>
        <p:sp>
          <p:nvSpPr>
            <p:cNvPr id="303" name="Google Shape;303;p7"/>
            <p:cNvSpPr txBox="1"/>
            <p:nvPr/>
          </p:nvSpPr>
          <p:spPr>
            <a:xfrm>
              <a:off x="0" y="-9525"/>
              <a:ext cx="3468945" cy="627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MVP </a:t>
              </a:r>
              <a:endParaRPr/>
            </a:p>
          </p:txBody>
        </p:sp>
        <p:sp>
          <p:nvSpPr>
            <p:cNvPr id="304" name="Google Shape;304;p7"/>
            <p:cNvSpPr txBox="1"/>
            <p:nvPr/>
          </p:nvSpPr>
          <p:spPr>
            <a:xfrm>
              <a:off x="0" y="769747"/>
              <a:ext cx="3468945" cy="1014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Full-scale design &amp; costed BOM</a:t>
              </a:r>
              <a:endParaRPr/>
            </a:p>
          </p:txBody>
        </p:sp>
      </p:grpSp>
      <p:grpSp>
        <p:nvGrpSpPr>
          <p:cNvPr id="305" name="Google Shape;305;p7"/>
          <p:cNvGrpSpPr/>
          <p:nvPr/>
        </p:nvGrpSpPr>
        <p:grpSpPr>
          <a:xfrm>
            <a:off x="282477" y="5672231"/>
            <a:ext cx="2367467" cy="1274858"/>
            <a:chOff x="0" y="-9525"/>
            <a:chExt cx="3156623" cy="1699810"/>
          </a:xfrm>
        </p:grpSpPr>
        <p:sp>
          <p:nvSpPr>
            <p:cNvPr id="306" name="Google Shape;306;p7"/>
            <p:cNvSpPr txBox="1"/>
            <p:nvPr/>
          </p:nvSpPr>
          <p:spPr>
            <a:xfrm>
              <a:off x="0" y="-9525"/>
              <a:ext cx="3156623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Validation PoC</a:t>
              </a:r>
              <a:endParaRPr/>
            </a:p>
          </p:txBody>
        </p:sp>
        <p:sp>
          <p:nvSpPr>
            <p:cNvPr id="307" name="Google Shape;307;p7"/>
            <p:cNvSpPr txBox="1"/>
            <p:nvPr/>
          </p:nvSpPr>
          <p:spPr>
            <a:xfrm>
              <a:off x="0" y="723180"/>
              <a:ext cx="3156623" cy="967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Bench tests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Sensor model set</a:t>
              </a:r>
              <a:endParaRPr/>
            </a:p>
          </p:txBody>
        </p:sp>
      </p:grpSp>
      <p:grpSp>
        <p:nvGrpSpPr>
          <p:cNvPr id="308" name="Google Shape;308;p7"/>
          <p:cNvGrpSpPr/>
          <p:nvPr/>
        </p:nvGrpSpPr>
        <p:grpSpPr>
          <a:xfrm>
            <a:off x="9094141" y="4324507"/>
            <a:ext cx="2949939" cy="1345343"/>
            <a:chOff x="0" y="-9525"/>
            <a:chExt cx="3933253" cy="1793790"/>
          </a:xfrm>
        </p:grpSpPr>
        <p:sp>
          <p:nvSpPr>
            <p:cNvPr id="309" name="Google Shape;309;p7"/>
            <p:cNvSpPr txBox="1"/>
            <p:nvPr/>
          </p:nvSpPr>
          <p:spPr>
            <a:xfrm>
              <a:off x="0" y="769747"/>
              <a:ext cx="3933253" cy="1014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Safety &amp; efficacy trial; refine sensor + app</a:t>
              </a:r>
              <a:endParaRPr/>
            </a:p>
          </p:txBody>
        </p:sp>
        <p:sp>
          <p:nvSpPr>
            <p:cNvPr id="310" name="Google Shape;310;p7"/>
            <p:cNvSpPr txBox="1"/>
            <p:nvPr/>
          </p:nvSpPr>
          <p:spPr>
            <a:xfrm>
              <a:off x="0" y="-9525"/>
              <a:ext cx="3933253" cy="627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Phase Clinical</a:t>
              </a:r>
              <a:endParaRPr/>
            </a:p>
          </p:txBody>
        </p:sp>
      </p:grpSp>
      <p:sp>
        <p:nvSpPr>
          <p:cNvPr id="311" name="Google Shape;311;p7"/>
          <p:cNvSpPr txBox="1"/>
          <p:nvPr/>
        </p:nvSpPr>
        <p:spPr>
          <a:xfrm>
            <a:off x="706984" y="7297310"/>
            <a:ext cx="15184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Q2 2025</a:t>
            </a:r>
            <a:r>
              <a:rPr b="1" i="0" lang="en-US" sz="2699" u="none" cap="none" strike="noStrike">
                <a:solidFill>
                  <a:srgbClr val="A37C7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1028700" y="1019175"/>
            <a:ext cx="162306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Business Model Milestones</a:t>
            </a:r>
            <a:endParaRPr/>
          </a:p>
        </p:txBody>
      </p:sp>
      <p:grpSp>
        <p:nvGrpSpPr>
          <p:cNvPr id="313" name="Google Shape;313;p7"/>
          <p:cNvGrpSpPr/>
          <p:nvPr/>
        </p:nvGrpSpPr>
        <p:grpSpPr>
          <a:xfrm>
            <a:off x="3202034" y="5136356"/>
            <a:ext cx="2803389" cy="1274858"/>
            <a:chOff x="0" y="-9525"/>
            <a:chExt cx="3737851" cy="1699810"/>
          </a:xfrm>
        </p:grpSpPr>
        <p:sp>
          <p:nvSpPr>
            <p:cNvPr id="314" name="Google Shape;314;p7"/>
            <p:cNvSpPr txBox="1"/>
            <p:nvPr/>
          </p:nvSpPr>
          <p:spPr>
            <a:xfrm>
              <a:off x="0" y="-9525"/>
              <a:ext cx="3737851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Prototype</a:t>
              </a:r>
              <a:endParaRPr/>
            </a:p>
          </p:txBody>
        </p:sp>
        <p:sp>
          <p:nvSpPr>
            <p:cNvPr id="315" name="Google Shape;315;p7"/>
            <p:cNvSpPr txBox="1"/>
            <p:nvPr/>
          </p:nvSpPr>
          <p:spPr>
            <a:xfrm>
              <a:off x="0" y="723180"/>
              <a:ext cx="3737851" cy="967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BLE link + mini-app with tracking algorithm</a:t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>
            <a:off x="12428747" y="3655408"/>
            <a:ext cx="2441193" cy="1345343"/>
            <a:chOff x="0" y="-9525"/>
            <a:chExt cx="3254924" cy="1793790"/>
          </a:xfrm>
        </p:grpSpPr>
        <p:sp>
          <p:nvSpPr>
            <p:cNvPr id="317" name="Google Shape;317;p7"/>
            <p:cNvSpPr txBox="1"/>
            <p:nvPr/>
          </p:nvSpPr>
          <p:spPr>
            <a:xfrm>
              <a:off x="0" y="769747"/>
              <a:ext cx="3254924" cy="1014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Compile &amp; file 510(k)</a:t>
              </a:r>
              <a:endParaRPr/>
            </a:p>
          </p:txBody>
        </p:sp>
        <p:sp>
          <p:nvSpPr>
            <p:cNvPr id="318" name="Google Shape;318;p7"/>
            <p:cNvSpPr txBox="1"/>
            <p:nvPr/>
          </p:nvSpPr>
          <p:spPr>
            <a:xfrm>
              <a:off x="0" y="-9525"/>
              <a:ext cx="3254924" cy="627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FDA</a:t>
              </a:r>
              <a:endParaRPr/>
            </a:p>
          </p:txBody>
        </p:sp>
      </p:grpSp>
      <p:grpSp>
        <p:nvGrpSpPr>
          <p:cNvPr id="319" name="Google Shape;319;p7"/>
          <p:cNvGrpSpPr/>
          <p:nvPr/>
        </p:nvGrpSpPr>
        <p:grpSpPr>
          <a:xfrm>
            <a:off x="15129780" y="2754533"/>
            <a:ext cx="3129396" cy="1808893"/>
            <a:chOff x="0" y="-9525"/>
            <a:chExt cx="4172527" cy="2411857"/>
          </a:xfrm>
        </p:grpSpPr>
        <p:sp>
          <p:nvSpPr>
            <p:cNvPr id="320" name="Google Shape;320;p7"/>
            <p:cNvSpPr txBox="1"/>
            <p:nvPr/>
          </p:nvSpPr>
          <p:spPr>
            <a:xfrm>
              <a:off x="0" y="1387814"/>
              <a:ext cx="4172527" cy="1014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Alliance with tampon brand</a:t>
              </a:r>
              <a:endParaRPr/>
            </a:p>
          </p:txBody>
        </p:sp>
        <p:sp>
          <p:nvSpPr>
            <p:cNvPr id="321" name="Google Shape;321;p7"/>
            <p:cNvSpPr txBox="1"/>
            <p:nvPr/>
          </p:nvSpPr>
          <p:spPr>
            <a:xfrm>
              <a:off x="0" y="-9525"/>
              <a:ext cx="4172527" cy="1245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Strategic Partnership</a:t>
              </a:r>
              <a:endParaRPr/>
            </a:p>
          </p:txBody>
        </p:sp>
      </p:grpSp>
      <p:grpSp>
        <p:nvGrpSpPr>
          <p:cNvPr id="322" name="Google Shape;322;p7"/>
          <p:cNvGrpSpPr/>
          <p:nvPr/>
        </p:nvGrpSpPr>
        <p:grpSpPr>
          <a:xfrm>
            <a:off x="6203753" y="6316776"/>
            <a:ext cx="2908606" cy="2346453"/>
            <a:chOff x="0" y="-47625"/>
            <a:chExt cx="766053" cy="617996"/>
          </a:xfrm>
        </p:grpSpPr>
        <p:sp>
          <p:nvSpPr>
            <p:cNvPr id="323" name="Google Shape;323;p7"/>
            <p:cNvSpPr/>
            <p:nvPr/>
          </p:nvSpPr>
          <p:spPr>
            <a:xfrm>
              <a:off x="0" y="0"/>
              <a:ext cx="766053" cy="570371"/>
            </a:xfrm>
            <a:custGeom>
              <a:rect b="b" l="l" r="r" t="t"/>
              <a:pathLst>
                <a:path extrusionOk="0" h="570371" w="766053">
                  <a:moveTo>
                    <a:pt x="0" y="0"/>
                  </a:moveTo>
                  <a:lnTo>
                    <a:pt x="766053" y="0"/>
                  </a:lnTo>
                  <a:lnTo>
                    <a:pt x="766053" y="570371"/>
                  </a:lnTo>
                  <a:lnTo>
                    <a:pt x="0" y="570371"/>
                  </a:lnTo>
                  <a:close/>
                </a:path>
              </a:pathLst>
            </a:custGeom>
            <a:solidFill>
              <a:srgbClr val="E0C9C2">
                <a:alpha val="58823"/>
              </a:srgbClr>
            </a:solidFill>
            <a:ln>
              <a:noFill/>
            </a:ln>
          </p:spPr>
        </p:sp>
        <p:sp>
          <p:nvSpPr>
            <p:cNvPr id="324" name="Google Shape;324;p7"/>
            <p:cNvSpPr txBox="1"/>
            <p:nvPr/>
          </p:nvSpPr>
          <p:spPr>
            <a:xfrm>
              <a:off x="0" y="-47625"/>
              <a:ext cx="766053" cy="61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7"/>
          <p:cNvSpPr txBox="1"/>
          <p:nvPr/>
        </p:nvSpPr>
        <p:spPr>
          <a:xfrm>
            <a:off x="6863519" y="6716901"/>
            <a:ext cx="1589074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Q4 2025</a:t>
            </a:r>
            <a:endParaRPr/>
          </a:p>
        </p:txBody>
      </p:sp>
      <p:grpSp>
        <p:nvGrpSpPr>
          <p:cNvPr id="326" name="Google Shape;326;p7"/>
          <p:cNvGrpSpPr/>
          <p:nvPr/>
        </p:nvGrpSpPr>
        <p:grpSpPr>
          <a:xfrm>
            <a:off x="9179034" y="5662536"/>
            <a:ext cx="2949939" cy="3000693"/>
            <a:chOff x="0" y="-47625"/>
            <a:chExt cx="776939" cy="790306"/>
          </a:xfrm>
        </p:grpSpPr>
        <p:sp>
          <p:nvSpPr>
            <p:cNvPr id="327" name="Google Shape;327;p7"/>
            <p:cNvSpPr/>
            <p:nvPr/>
          </p:nvSpPr>
          <p:spPr>
            <a:xfrm>
              <a:off x="0" y="0"/>
              <a:ext cx="776939" cy="742681"/>
            </a:xfrm>
            <a:custGeom>
              <a:rect b="b" l="l" r="r" t="t"/>
              <a:pathLst>
                <a:path extrusionOk="0" h="742681" w="776939">
                  <a:moveTo>
                    <a:pt x="0" y="0"/>
                  </a:moveTo>
                  <a:lnTo>
                    <a:pt x="776939" y="0"/>
                  </a:lnTo>
                  <a:lnTo>
                    <a:pt x="776939" y="742681"/>
                  </a:lnTo>
                  <a:lnTo>
                    <a:pt x="0" y="742681"/>
                  </a:lnTo>
                  <a:close/>
                </a:path>
              </a:pathLst>
            </a:custGeom>
            <a:solidFill>
              <a:srgbClr val="E0C9C2">
                <a:alpha val="58823"/>
              </a:srgbClr>
            </a:solidFill>
            <a:ln>
              <a:noFill/>
            </a:ln>
          </p:spPr>
        </p:sp>
        <p:sp>
          <p:nvSpPr>
            <p:cNvPr id="328" name="Google Shape;328;p7"/>
            <p:cNvSpPr txBox="1"/>
            <p:nvPr/>
          </p:nvSpPr>
          <p:spPr>
            <a:xfrm>
              <a:off x="0" y="-47625"/>
              <a:ext cx="776939" cy="790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7"/>
          <p:cNvSpPr txBox="1"/>
          <p:nvPr/>
        </p:nvSpPr>
        <p:spPr>
          <a:xfrm>
            <a:off x="9898281" y="6051371"/>
            <a:ext cx="176014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Q2 2026</a:t>
            </a:r>
            <a:endParaRPr/>
          </a:p>
        </p:txBody>
      </p:sp>
      <p:grpSp>
        <p:nvGrpSpPr>
          <p:cNvPr id="330" name="Google Shape;330;p7"/>
          <p:cNvGrpSpPr/>
          <p:nvPr/>
        </p:nvGrpSpPr>
        <p:grpSpPr>
          <a:xfrm>
            <a:off x="3003704" y="6321395"/>
            <a:ext cx="3200049" cy="2331073"/>
            <a:chOff x="0" y="-47625"/>
            <a:chExt cx="842811" cy="613945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42811" cy="566320"/>
            </a:xfrm>
            <a:custGeom>
              <a:rect b="b" l="l" r="r" t="t"/>
              <a:pathLst>
                <a:path extrusionOk="0" h="566320" w="842811">
                  <a:moveTo>
                    <a:pt x="0" y="0"/>
                  </a:moveTo>
                  <a:lnTo>
                    <a:pt x="842811" y="0"/>
                  </a:lnTo>
                  <a:lnTo>
                    <a:pt x="842811" y="566320"/>
                  </a:lnTo>
                  <a:lnTo>
                    <a:pt x="0" y="566320"/>
                  </a:lnTo>
                  <a:close/>
                </a:path>
              </a:pathLst>
            </a:custGeom>
            <a:solidFill>
              <a:srgbClr val="E0C9C2">
                <a:alpha val="58823"/>
              </a:srgbClr>
            </a:solidFill>
            <a:ln>
              <a:noFill/>
            </a:ln>
          </p:spPr>
        </p:sp>
        <p:sp>
          <p:nvSpPr>
            <p:cNvPr id="332" name="Google Shape;332;p7"/>
            <p:cNvSpPr txBox="1"/>
            <p:nvPr/>
          </p:nvSpPr>
          <p:spPr>
            <a:xfrm>
              <a:off x="0" y="-47625"/>
              <a:ext cx="842811" cy="613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7"/>
          <p:cNvSpPr txBox="1"/>
          <p:nvPr/>
        </p:nvSpPr>
        <p:spPr>
          <a:xfrm>
            <a:off x="3931481" y="6612802"/>
            <a:ext cx="1548371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Q3 2025</a:t>
            </a:r>
            <a:r>
              <a:rPr b="1" i="0" lang="en-US" sz="2699" u="none" cap="none" strike="noStrike">
                <a:solidFill>
                  <a:srgbClr val="A37C7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grpSp>
        <p:nvGrpSpPr>
          <p:cNvPr id="334" name="Google Shape;334;p7"/>
          <p:cNvGrpSpPr/>
          <p:nvPr/>
        </p:nvGrpSpPr>
        <p:grpSpPr>
          <a:xfrm>
            <a:off x="12195648" y="4993817"/>
            <a:ext cx="2907391" cy="3669412"/>
            <a:chOff x="0" y="-47625"/>
            <a:chExt cx="765733" cy="966430"/>
          </a:xfrm>
        </p:grpSpPr>
        <p:sp>
          <p:nvSpPr>
            <p:cNvPr id="335" name="Google Shape;335;p7"/>
            <p:cNvSpPr/>
            <p:nvPr/>
          </p:nvSpPr>
          <p:spPr>
            <a:xfrm>
              <a:off x="0" y="0"/>
              <a:ext cx="765733" cy="918805"/>
            </a:xfrm>
            <a:custGeom>
              <a:rect b="b" l="l" r="r" t="t"/>
              <a:pathLst>
                <a:path extrusionOk="0" h="918805" w="765733">
                  <a:moveTo>
                    <a:pt x="0" y="0"/>
                  </a:moveTo>
                  <a:lnTo>
                    <a:pt x="765733" y="0"/>
                  </a:lnTo>
                  <a:lnTo>
                    <a:pt x="765733" y="918805"/>
                  </a:lnTo>
                  <a:lnTo>
                    <a:pt x="0" y="918805"/>
                  </a:lnTo>
                  <a:close/>
                </a:path>
              </a:pathLst>
            </a:custGeom>
            <a:solidFill>
              <a:srgbClr val="E0C9C2">
                <a:alpha val="58823"/>
              </a:srgbClr>
            </a:solidFill>
            <a:ln>
              <a:noFill/>
            </a:ln>
          </p:spPr>
        </p:sp>
        <p:sp>
          <p:nvSpPr>
            <p:cNvPr id="336" name="Google Shape;336;p7"/>
            <p:cNvSpPr txBox="1"/>
            <p:nvPr/>
          </p:nvSpPr>
          <p:spPr>
            <a:xfrm>
              <a:off x="0" y="-47625"/>
              <a:ext cx="765733" cy="966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7"/>
          <p:cNvSpPr txBox="1"/>
          <p:nvPr/>
        </p:nvSpPr>
        <p:spPr>
          <a:xfrm>
            <a:off x="12858094" y="5436488"/>
            <a:ext cx="150748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Q4 2026</a:t>
            </a:r>
            <a:endParaRPr/>
          </a:p>
        </p:txBody>
      </p:sp>
      <p:grpSp>
        <p:nvGrpSpPr>
          <p:cNvPr id="338" name="Google Shape;338;p7"/>
          <p:cNvGrpSpPr/>
          <p:nvPr/>
        </p:nvGrpSpPr>
        <p:grpSpPr>
          <a:xfrm>
            <a:off x="15169714" y="4495848"/>
            <a:ext cx="3049527" cy="4167381"/>
            <a:chOff x="0" y="-47625"/>
            <a:chExt cx="803168" cy="1097582"/>
          </a:xfrm>
        </p:grpSpPr>
        <p:sp>
          <p:nvSpPr>
            <p:cNvPr id="339" name="Google Shape;339;p7"/>
            <p:cNvSpPr/>
            <p:nvPr/>
          </p:nvSpPr>
          <p:spPr>
            <a:xfrm>
              <a:off x="0" y="0"/>
              <a:ext cx="803168" cy="1049957"/>
            </a:xfrm>
            <a:custGeom>
              <a:rect b="b" l="l" r="r" t="t"/>
              <a:pathLst>
                <a:path extrusionOk="0" h="1049957" w="803168">
                  <a:moveTo>
                    <a:pt x="0" y="0"/>
                  </a:moveTo>
                  <a:lnTo>
                    <a:pt x="803168" y="0"/>
                  </a:lnTo>
                  <a:lnTo>
                    <a:pt x="803168" y="1049957"/>
                  </a:lnTo>
                  <a:lnTo>
                    <a:pt x="0" y="1049957"/>
                  </a:lnTo>
                  <a:close/>
                </a:path>
              </a:pathLst>
            </a:custGeom>
            <a:solidFill>
              <a:srgbClr val="E0C9C2">
                <a:alpha val="58823"/>
              </a:srgbClr>
            </a:solidFill>
            <a:ln>
              <a:noFill/>
            </a:ln>
          </p:spPr>
        </p:sp>
        <p:sp>
          <p:nvSpPr>
            <p:cNvPr id="340" name="Google Shape;340;p7"/>
            <p:cNvSpPr txBox="1"/>
            <p:nvPr/>
          </p:nvSpPr>
          <p:spPr>
            <a:xfrm>
              <a:off x="0" y="-47625"/>
              <a:ext cx="803168" cy="109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7"/>
          <p:cNvSpPr txBox="1"/>
          <p:nvPr/>
        </p:nvSpPr>
        <p:spPr>
          <a:xfrm>
            <a:off x="15792839" y="4850609"/>
            <a:ext cx="17235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Q4 2027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8"/>
          <p:cNvGrpSpPr/>
          <p:nvPr/>
        </p:nvGrpSpPr>
        <p:grpSpPr>
          <a:xfrm>
            <a:off x="0" y="-180826"/>
            <a:ext cx="18288000" cy="5324326"/>
            <a:chOff x="0" y="-47625"/>
            <a:chExt cx="4816593" cy="1402292"/>
          </a:xfrm>
        </p:grpSpPr>
        <p:sp>
          <p:nvSpPr>
            <p:cNvPr id="347" name="Google Shape;347;p8"/>
            <p:cNvSpPr/>
            <p:nvPr/>
          </p:nvSpPr>
          <p:spPr>
            <a:xfrm>
              <a:off x="0" y="0"/>
              <a:ext cx="4816592" cy="1354667"/>
            </a:xfrm>
            <a:custGeom>
              <a:rect b="b" l="l" r="r" t="t"/>
              <a:pathLst>
                <a:path extrusionOk="0"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348" name="Google Shape;348;p8"/>
            <p:cNvSpPr txBox="1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8"/>
          <p:cNvGrpSpPr/>
          <p:nvPr/>
        </p:nvGrpSpPr>
        <p:grpSpPr>
          <a:xfrm>
            <a:off x="0" y="8471642"/>
            <a:ext cx="4256570" cy="1815358"/>
            <a:chOff x="0" y="-47625"/>
            <a:chExt cx="1121072" cy="478119"/>
          </a:xfrm>
        </p:grpSpPr>
        <p:sp>
          <p:nvSpPr>
            <p:cNvPr id="350" name="Google Shape;350;p8"/>
            <p:cNvSpPr/>
            <p:nvPr/>
          </p:nvSpPr>
          <p:spPr>
            <a:xfrm>
              <a:off x="0" y="0"/>
              <a:ext cx="1121072" cy="430494"/>
            </a:xfrm>
            <a:custGeom>
              <a:rect b="b" l="l" r="r" t="t"/>
              <a:pathLst>
                <a:path extrusionOk="0" h="430494" w="1121072">
                  <a:moveTo>
                    <a:pt x="0" y="0"/>
                  </a:moveTo>
                  <a:lnTo>
                    <a:pt x="1121072" y="0"/>
                  </a:lnTo>
                  <a:lnTo>
                    <a:pt x="1121072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2B5A8"/>
            </a:solidFill>
            <a:ln>
              <a:noFill/>
            </a:ln>
          </p:spPr>
        </p:sp>
        <p:sp>
          <p:nvSpPr>
            <p:cNvPr id="351" name="Google Shape;351;p8"/>
            <p:cNvSpPr txBox="1"/>
            <p:nvPr/>
          </p:nvSpPr>
          <p:spPr>
            <a:xfrm>
              <a:off x="0" y="-47625"/>
              <a:ext cx="1121072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8"/>
          <p:cNvGrpSpPr/>
          <p:nvPr/>
        </p:nvGrpSpPr>
        <p:grpSpPr>
          <a:xfrm>
            <a:off x="4256570" y="8471642"/>
            <a:ext cx="14031430" cy="1815358"/>
            <a:chOff x="0" y="-47625"/>
            <a:chExt cx="3695521" cy="478119"/>
          </a:xfrm>
        </p:grpSpPr>
        <p:sp>
          <p:nvSpPr>
            <p:cNvPr id="353" name="Google Shape;353;p8"/>
            <p:cNvSpPr/>
            <p:nvPr/>
          </p:nvSpPr>
          <p:spPr>
            <a:xfrm>
              <a:off x="0" y="0"/>
              <a:ext cx="3695521" cy="430494"/>
            </a:xfrm>
            <a:custGeom>
              <a:rect b="b" l="l" r="r" t="t"/>
              <a:pathLst>
                <a:path extrusionOk="0" h="430494" w="3695521">
                  <a:moveTo>
                    <a:pt x="0" y="0"/>
                  </a:moveTo>
                  <a:lnTo>
                    <a:pt x="3695521" y="0"/>
                  </a:lnTo>
                  <a:lnTo>
                    <a:pt x="3695521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C69A8E"/>
            </a:solidFill>
            <a:ln>
              <a:noFill/>
            </a:ln>
          </p:spPr>
        </p:sp>
        <p:sp>
          <p:nvSpPr>
            <p:cNvPr id="354" name="Google Shape;354;p8"/>
            <p:cNvSpPr txBox="1"/>
            <p:nvPr/>
          </p:nvSpPr>
          <p:spPr>
            <a:xfrm>
              <a:off x="0" y="-47625"/>
              <a:ext cx="3695521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8"/>
          <p:cNvGrpSpPr/>
          <p:nvPr/>
        </p:nvGrpSpPr>
        <p:grpSpPr>
          <a:xfrm>
            <a:off x="4688766" y="9267825"/>
            <a:ext cx="15524903" cy="2696661"/>
            <a:chOff x="0" y="0"/>
            <a:chExt cx="20699871" cy="3595548"/>
          </a:xfrm>
        </p:grpSpPr>
        <p:sp>
          <p:nvSpPr>
            <p:cNvPr id="356" name="Google Shape;356;p8"/>
            <p:cNvSpPr/>
            <p:nvPr/>
          </p:nvSpPr>
          <p:spPr>
            <a:xfrm>
              <a:off x="14129933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7" name="Google Shape;357;p8"/>
            <p:cNvSpPr/>
            <p:nvPr/>
          </p:nvSpPr>
          <p:spPr>
            <a:xfrm>
              <a:off x="7065238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9" y="0"/>
                  </a:lnTo>
                  <a:lnTo>
                    <a:pt x="6569939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8" name="Google Shape;358;p8"/>
            <p:cNvSpPr/>
            <p:nvPr/>
          </p:nvSpPr>
          <p:spPr>
            <a:xfrm>
              <a:off x="0" y="0"/>
              <a:ext cx="6569938" cy="3595548"/>
            </a:xfrm>
            <a:custGeom>
              <a:rect b="b" l="l" r="r" t="t"/>
              <a:pathLst>
                <a:path extrusionOk="0" h="3595548" w="6569938">
                  <a:moveTo>
                    <a:pt x="0" y="0"/>
                  </a:moveTo>
                  <a:lnTo>
                    <a:pt x="6569938" y="0"/>
                  </a:lnTo>
                  <a:lnTo>
                    <a:pt x="6569938" y="3595548"/>
                  </a:lnTo>
                  <a:lnTo>
                    <a:pt x="0" y="359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359" name="Google Shape;359;p8"/>
          <p:cNvGrpSpPr/>
          <p:nvPr/>
        </p:nvGrpSpPr>
        <p:grpSpPr>
          <a:xfrm>
            <a:off x="717824" y="5884069"/>
            <a:ext cx="7771382" cy="2494230"/>
            <a:chOff x="0" y="-28575"/>
            <a:chExt cx="10361843" cy="3325640"/>
          </a:xfrm>
        </p:grpSpPr>
        <p:sp>
          <p:nvSpPr>
            <p:cNvPr id="360" name="Google Shape;360;p8"/>
            <p:cNvSpPr txBox="1"/>
            <p:nvPr/>
          </p:nvSpPr>
          <p:spPr>
            <a:xfrm>
              <a:off x="0" y="-28575"/>
              <a:ext cx="10361843" cy="2573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6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Focused on acquisition by a key players:</a:t>
              </a:r>
              <a:endParaRPr/>
            </a:p>
            <a:p>
              <a:pPr indent="0" lvl="0" marL="0" marR="0" rtl="0" algn="l">
                <a:lnSpc>
                  <a:spcPct val="126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P&amp;G, Kimberly-Clark, Edgewell, or Kenvue- </a:t>
              </a:r>
              <a:endParaRPr/>
            </a:p>
            <a:p>
              <a:pPr indent="0" lvl="0" marL="0" marR="0" rtl="0" algn="l">
                <a:lnSpc>
                  <a:spcPct val="126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who together dominate the market.</a:t>
              </a:r>
              <a:endParaRPr/>
            </a:p>
            <a:p>
              <a:pPr indent="0" lvl="0" marL="0" marR="0" rtl="0" algn="l">
                <a:lnSpc>
                  <a:spcPct val="1016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1" name="Google Shape;361;p8"/>
            <p:cNvSpPr txBox="1"/>
            <p:nvPr/>
          </p:nvSpPr>
          <p:spPr>
            <a:xfrm>
              <a:off x="0" y="2770015"/>
              <a:ext cx="10361843" cy="527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8"/>
          <p:cNvSpPr txBox="1"/>
          <p:nvPr/>
        </p:nvSpPr>
        <p:spPr>
          <a:xfrm>
            <a:off x="1028700" y="1104900"/>
            <a:ext cx="1623060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Market Size Insights</a:t>
            </a:r>
            <a:endParaRPr/>
          </a:p>
        </p:txBody>
      </p:sp>
      <p:grpSp>
        <p:nvGrpSpPr>
          <p:cNvPr id="363" name="Google Shape;363;p8"/>
          <p:cNvGrpSpPr/>
          <p:nvPr/>
        </p:nvGrpSpPr>
        <p:grpSpPr>
          <a:xfrm>
            <a:off x="1028700" y="2910940"/>
            <a:ext cx="3574815" cy="1616191"/>
            <a:chOff x="0" y="276225"/>
            <a:chExt cx="4766421" cy="2154921"/>
          </a:xfrm>
        </p:grpSpPr>
        <p:sp>
          <p:nvSpPr>
            <p:cNvPr id="364" name="Google Shape;364;p8"/>
            <p:cNvSpPr txBox="1"/>
            <p:nvPr/>
          </p:nvSpPr>
          <p:spPr>
            <a:xfrm>
              <a:off x="0" y="1546379"/>
              <a:ext cx="4766421" cy="884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World wide combined Tampons revenue.</a:t>
              </a:r>
              <a:endParaRPr/>
            </a:p>
          </p:txBody>
        </p:sp>
        <p:sp>
          <p:nvSpPr>
            <p:cNvPr id="365" name="Google Shape;365;p8"/>
            <p:cNvSpPr txBox="1"/>
            <p:nvPr/>
          </p:nvSpPr>
          <p:spPr>
            <a:xfrm>
              <a:off x="0" y="276225"/>
              <a:ext cx="4766421" cy="1137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7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8B6B62"/>
                  </a:solidFill>
                  <a:latin typeface="Ultra"/>
                  <a:ea typeface="Ultra"/>
                  <a:cs typeface="Ultra"/>
                  <a:sym typeface="Ultra"/>
                </a:rPr>
                <a:t>$6.4B</a:t>
              </a:r>
              <a:endParaRPr/>
            </a:p>
          </p:txBody>
        </p:sp>
      </p:grpSp>
      <p:grpSp>
        <p:nvGrpSpPr>
          <p:cNvPr id="366" name="Google Shape;366;p8"/>
          <p:cNvGrpSpPr/>
          <p:nvPr/>
        </p:nvGrpSpPr>
        <p:grpSpPr>
          <a:xfrm>
            <a:off x="6540172" y="2910940"/>
            <a:ext cx="3650261" cy="1616191"/>
            <a:chOff x="0" y="276225"/>
            <a:chExt cx="4867014" cy="2154921"/>
          </a:xfrm>
        </p:grpSpPr>
        <p:sp>
          <p:nvSpPr>
            <p:cNvPr id="367" name="Google Shape;367;p8"/>
            <p:cNvSpPr txBox="1"/>
            <p:nvPr/>
          </p:nvSpPr>
          <p:spPr>
            <a:xfrm>
              <a:off x="0" y="1546379"/>
              <a:ext cx="4867014" cy="884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0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World wide combined Tampons revenue. 2030</a:t>
              </a:r>
              <a:endParaRPr/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276225"/>
              <a:ext cx="4867014" cy="1137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7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999" u="none" cap="none" strike="noStrike">
                  <a:solidFill>
                    <a:srgbClr val="8B6B62"/>
                  </a:solidFill>
                  <a:latin typeface="Ultra"/>
                  <a:ea typeface="Ultra"/>
                  <a:cs typeface="Ultra"/>
                  <a:sym typeface="Ultra"/>
                </a:rPr>
                <a:t>$9.4B</a:t>
              </a:r>
              <a:endParaRPr/>
            </a:p>
          </p:txBody>
        </p:sp>
      </p:grpSp>
      <p:sp>
        <p:nvSpPr>
          <p:cNvPr id="369" name="Google Shape;369;p8"/>
          <p:cNvSpPr/>
          <p:nvPr/>
        </p:nvSpPr>
        <p:spPr>
          <a:xfrm>
            <a:off x="10018983" y="1878543"/>
            <a:ext cx="7593543" cy="6529914"/>
          </a:xfrm>
          <a:custGeom>
            <a:rect b="b" l="l" r="r" t="t"/>
            <a:pathLst>
              <a:path extrusionOk="0" h="6529914" w="7593543">
                <a:moveTo>
                  <a:pt x="0" y="0"/>
                </a:moveTo>
                <a:lnTo>
                  <a:pt x="7593543" y="0"/>
                </a:lnTo>
                <a:lnTo>
                  <a:pt x="7593543" y="6529914"/>
                </a:lnTo>
                <a:lnTo>
                  <a:pt x="0" y="65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0" name="Google Shape;370;p8"/>
          <p:cNvGrpSpPr/>
          <p:nvPr/>
        </p:nvGrpSpPr>
        <p:grpSpPr>
          <a:xfrm>
            <a:off x="0" y="8804664"/>
            <a:ext cx="3524235" cy="1330141"/>
            <a:chOff x="0" y="0"/>
            <a:chExt cx="4698980" cy="1773521"/>
          </a:xfrm>
        </p:grpSpPr>
        <p:sp>
          <p:nvSpPr>
            <p:cNvPr id="371" name="Google Shape;371;p8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372" name="Google Shape;372;p8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BE3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9"/>
          <p:cNvGrpSpPr/>
          <p:nvPr/>
        </p:nvGrpSpPr>
        <p:grpSpPr>
          <a:xfrm>
            <a:off x="7233346" y="2648340"/>
            <a:ext cx="3821308" cy="3821308"/>
            <a:chOff x="0" y="0"/>
            <a:chExt cx="8790178" cy="8790178"/>
          </a:xfrm>
        </p:grpSpPr>
        <p:sp>
          <p:nvSpPr>
            <p:cNvPr id="378" name="Google Shape;378;p9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5944" l="-11665" r="-5742" t="-19427"/>
              </a:stretch>
            </a:blipFill>
            <a:ln>
              <a:noFill/>
            </a:ln>
          </p:spPr>
        </p:sp>
        <p:sp>
          <p:nvSpPr>
            <p:cNvPr id="379" name="Google Shape;379;p9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380" name="Google Shape;380;p9"/>
          <p:cNvGrpSpPr/>
          <p:nvPr/>
        </p:nvGrpSpPr>
        <p:grpSpPr>
          <a:xfrm>
            <a:off x="13188761" y="2648340"/>
            <a:ext cx="3821308" cy="3821308"/>
            <a:chOff x="0" y="0"/>
            <a:chExt cx="8790178" cy="8790178"/>
          </a:xfrm>
        </p:grpSpPr>
        <p:sp>
          <p:nvSpPr>
            <p:cNvPr id="381" name="Google Shape;381;p9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5159" l="-13703" r="-10187" t="-24186"/>
              </a:stretch>
            </a:blipFill>
            <a:ln>
              <a:noFill/>
            </a:ln>
          </p:spPr>
        </p:sp>
        <p:sp>
          <p:nvSpPr>
            <p:cNvPr id="382" name="Google Shape;382;p9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383" name="Google Shape;383;p9"/>
          <p:cNvSpPr/>
          <p:nvPr/>
        </p:nvSpPr>
        <p:spPr>
          <a:xfrm>
            <a:off x="2712371" y="8547187"/>
            <a:ext cx="731995" cy="730163"/>
          </a:xfrm>
          <a:custGeom>
            <a:rect b="b" l="l" r="r" t="t"/>
            <a:pathLst>
              <a:path extrusionOk="0" h="730163" w="731995">
                <a:moveTo>
                  <a:pt x="0" y="0"/>
                </a:moveTo>
                <a:lnTo>
                  <a:pt x="731995" y="0"/>
                </a:lnTo>
                <a:lnTo>
                  <a:pt x="731995" y="730163"/>
                </a:lnTo>
                <a:lnTo>
                  <a:pt x="0" y="730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384" name="Google Shape;384;p9"/>
          <p:cNvSpPr/>
          <p:nvPr/>
        </p:nvSpPr>
        <p:spPr>
          <a:xfrm>
            <a:off x="8778002" y="9089116"/>
            <a:ext cx="731995" cy="730163"/>
          </a:xfrm>
          <a:custGeom>
            <a:rect b="b" l="l" r="r" t="t"/>
            <a:pathLst>
              <a:path extrusionOk="0" h="730163" w="731995">
                <a:moveTo>
                  <a:pt x="0" y="0"/>
                </a:moveTo>
                <a:lnTo>
                  <a:pt x="731996" y="0"/>
                </a:lnTo>
                <a:lnTo>
                  <a:pt x="731996" y="730163"/>
                </a:lnTo>
                <a:lnTo>
                  <a:pt x="0" y="730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385" name="Google Shape;385;p9"/>
          <p:cNvSpPr/>
          <p:nvPr/>
        </p:nvSpPr>
        <p:spPr>
          <a:xfrm>
            <a:off x="14767840" y="8544825"/>
            <a:ext cx="731995" cy="730163"/>
          </a:xfrm>
          <a:custGeom>
            <a:rect b="b" l="l" r="r" t="t"/>
            <a:pathLst>
              <a:path extrusionOk="0" h="730163" w="731995">
                <a:moveTo>
                  <a:pt x="0" y="0"/>
                </a:moveTo>
                <a:lnTo>
                  <a:pt x="731996" y="0"/>
                </a:lnTo>
                <a:lnTo>
                  <a:pt x="731996" y="730163"/>
                </a:lnTo>
                <a:lnTo>
                  <a:pt x="0" y="730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grpSp>
        <p:nvGrpSpPr>
          <p:cNvPr id="386" name="Google Shape;386;p9"/>
          <p:cNvGrpSpPr/>
          <p:nvPr/>
        </p:nvGrpSpPr>
        <p:grpSpPr>
          <a:xfrm>
            <a:off x="1167714" y="2648340"/>
            <a:ext cx="3821308" cy="3821308"/>
            <a:chOff x="0" y="0"/>
            <a:chExt cx="8790178" cy="8790178"/>
          </a:xfrm>
        </p:grpSpPr>
        <p:sp>
          <p:nvSpPr>
            <p:cNvPr id="387" name="Google Shape;387;p9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8014" l="-6692" r="-10049" t="-15020"/>
              </a:stretch>
            </a:blipFill>
            <a:ln>
              <a:noFill/>
            </a:ln>
          </p:spPr>
        </p:sp>
        <p:sp>
          <p:nvSpPr>
            <p:cNvPr id="388" name="Google Shape;388;p9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A37C71"/>
            </a:solidFill>
            <a:ln>
              <a:noFill/>
            </a:ln>
          </p:spPr>
        </p:sp>
      </p:grpSp>
      <p:sp>
        <p:nvSpPr>
          <p:cNvPr id="389" name="Google Shape;389;p9"/>
          <p:cNvSpPr txBox="1"/>
          <p:nvPr/>
        </p:nvSpPr>
        <p:spPr>
          <a:xfrm>
            <a:off x="6398376" y="1104900"/>
            <a:ext cx="4759252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Our Team</a:t>
            </a:r>
            <a:endParaRPr/>
          </a:p>
        </p:txBody>
      </p:sp>
      <p:grpSp>
        <p:nvGrpSpPr>
          <p:cNvPr id="390" name="Google Shape;390;p9"/>
          <p:cNvGrpSpPr/>
          <p:nvPr/>
        </p:nvGrpSpPr>
        <p:grpSpPr>
          <a:xfrm>
            <a:off x="6697768" y="6562556"/>
            <a:ext cx="4892463" cy="893264"/>
            <a:chOff x="0" y="-57150"/>
            <a:chExt cx="6523285" cy="1191020"/>
          </a:xfrm>
        </p:grpSpPr>
        <p:sp>
          <p:nvSpPr>
            <p:cNvPr id="391" name="Google Shape;391;p9"/>
            <p:cNvSpPr txBox="1"/>
            <p:nvPr/>
          </p:nvSpPr>
          <p:spPr>
            <a:xfrm>
              <a:off x="0" y="-57150"/>
              <a:ext cx="6523285" cy="682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3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Dan Israel</a:t>
              </a:r>
              <a:endParaRPr/>
            </a:p>
          </p:txBody>
        </p:sp>
        <p:sp>
          <p:nvSpPr>
            <p:cNvPr id="392" name="Google Shape;392;p9"/>
            <p:cNvSpPr txBox="1"/>
            <p:nvPr/>
          </p:nvSpPr>
          <p:spPr>
            <a:xfrm>
              <a:off x="714103" y="568172"/>
              <a:ext cx="5095078" cy="565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27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CEO </a:t>
              </a:r>
              <a:endParaRPr/>
            </a:p>
          </p:txBody>
        </p:sp>
      </p:grpSp>
      <p:sp>
        <p:nvSpPr>
          <p:cNvPr id="393" name="Google Shape;393;p9"/>
          <p:cNvSpPr txBox="1"/>
          <p:nvPr/>
        </p:nvSpPr>
        <p:spPr>
          <a:xfrm>
            <a:off x="6371573" y="7599368"/>
            <a:ext cx="5541312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 year honor student, 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B.A Business Administration and B.A Psychology</a:t>
            </a:r>
            <a:endParaRPr/>
          </a:p>
        </p:txBody>
      </p:sp>
      <p:sp>
        <p:nvSpPr>
          <p:cNvPr id="394" name="Google Shape;394;p9"/>
          <p:cNvSpPr txBox="1"/>
          <p:nvPr/>
        </p:nvSpPr>
        <p:spPr>
          <a:xfrm>
            <a:off x="12722028" y="7662868"/>
            <a:ext cx="482361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Third year B.Sc Computer Science</a:t>
            </a:r>
            <a:endParaRPr/>
          </a:p>
        </p:txBody>
      </p:sp>
      <p:grpSp>
        <p:nvGrpSpPr>
          <p:cNvPr id="395" name="Google Shape;395;p9"/>
          <p:cNvGrpSpPr/>
          <p:nvPr/>
        </p:nvGrpSpPr>
        <p:grpSpPr>
          <a:xfrm>
            <a:off x="12653184" y="6525669"/>
            <a:ext cx="4892463" cy="893264"/>
            <a:chOff x="0" y="-57150"/>
            <a:chExt cx="6523285" cy="1191020"/>
          </a:xfrm>
        </p:grpSpPr>
        <p:sp>
          <p:nvSpPr>
            <p:cNvPr id="396" name="Google Shape;396;p9"/>
            <p:cNvSpPr txBox="1"/>
            <p:nvPr/>
          </p:nvSpPr>
          <p:spPr>
            <a:xfrm>
              <a:off x="0" y="-57150"/>
              <a:ext cx="6523285" cy="682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3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Thelet Shevach </a:t>
              </a:r>
              <a:endParaRPr/>
            </a:p>
          </p:txBody>
        </p:sp>
        <p:sp>
          <p:nvSpPr>
            <p:cNvPr id="397" name="Google Shape;397;p9"/>
            <p:cNvSpPr txBox="1"/>
            <p:nvPr/>
          </p:nvSpPr>
          <p:spPr>
            <a:xfrm>
              <a:off x="714103" y="568172"/>
              <a:ext cx="5095078" cy="565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27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CTO</a:t>
              </a:r>
              <a:endParaRPr/>
            </a:p>
          </p:txBody>
        </p:sp>
      </p:grpSp>
      <p:sp>
        <p:nvSpPr>
          <p:cNvPr id="398" name="Google Shape;398;p9"/>
          <p:cNvSpPr txBox="1"/>
          <p:nvPr/>
        </p:nvSpPr>
        <p:spPr>
          <a:xfrm>
            <a:off x="682229" y="7662868"/>
            <a:ext cx="4842371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E2B5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Third year B.Sc Electrical Engineer</a:t>
            </a:r>
            <a:endParaRPr/>
          </a:p>
        </p:txBody>
      </p:sp>
      <p:grpSp>
        <p:nvGrpSpPr>
          <p:cNvPr id="399" name="Google Shape;399;p9"/>
          <p:cNvGrpSpPr/>
          <p:nvPr/>
        </p:nvGrpSpPr>
        <p:grpSpPr>
          <a:xfrm>
            <a:off x="632137" y="6525669"/>
            <a:ext cx="4892463" cy="893264"/>
            <a:chOff x="0" y="-57150"/>
            <a:chExt cx="6523285" cy="1191020"/>
          </a:xfrm>
        </p:grpSpPr>
        <p:sp>
          <p:nvSpPr>
            <p:cNvPr id="400" name="Google Shape;400;p9"/>
            <p:cNvSpPr txBox="1"/>
            <p:nvPr/>
          </p:nvSpPr>
          <p:spPr>
            <a:xfrm>
              <a:off x="0" y="-57150"/>
              <a:ext cx="6523285" cy="682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39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Adar Shamir </a:t>
              </a:r>
              <a:endParaRPr/>
            </a:p>
          </p:txBody>
        </p:sp>
        <p:sp>
          <p:nvSpPr>
            <p:cNvPr id="401" name="Google Shape;401;p9"/>
            <p:cNvSpPr txBox="1"/>
            <p:nvPr/>
          </p:nvSpPr>
          <p:spPr>
            <a:xfrm>
              <a:off x="714103" y="568172"/>
              <a:ext cx="5095078" cy="565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27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VP Engineering </a:t>
              </a:r>
              <a:endParaRPr/>
            </a:p>
          </p:txBody>
        </p:sp>
      </p:grpSp>
      <p:grpSp>
        <p:nvGrpSpPr>
          <p:cNvPr id="402" name="Google Shape;402;p9"/>
          <p:cNvGrpSpPr/>
          <p:nvPr/>
        </p:nvGrpSpPr>
        <p:grpSpPr>
          <a:xfrm>
            <a:off x="204038" y="363630"/>
            <a:ext cx="3524235" cy="1330141"/>
            <a:chOff x="0" y="0"/>
            <a:chExt cx="4698980" cy="1773521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578708" cy="1773521"/>
            </a:xfrm>
            <a:custGeom>
              <a:rect b="b" l="l" r="r" t="t"/>
              <a:pathLst>
                <a:path extrusionOk="0" h="1773521" w="2578708">
                  <a:moveTo>
                    <a:pt x="0" y="0"/>
                  </a:moveTo>
                  <a:lnTo>
                    <a:pt x="2578708" y="0"/>
                  </a:lnTo>
                  <a:lnTo>
                    <a:pt x="2578708" y="1773521"/>
                  </a:lnTo>
                  <a:lnTo>
                    <a:pt x="0" y="17735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28056" l="0" r="0" t="-17338"/>
              </a:stretch>
            </a:blipFill>
            <a:ln>
              <a:noFill/>
            </a:ln>
          </p:spPr>
        </p:sp>
        <p:sp>
          <p:nvSpPr>
            <p:cNvPr id="404" name="Google Shape;404;p9"/>
            <p:cNvSpPr txBox="1"/>
            <p:nvPr/>
          </p:nvSpPr>
          <p:spPr>
            <a:xfrm>
              <a:off x="1289354" y="560398"/>
              <a:ext cx="3409626" cy="68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44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9A8E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10"/>
          <p:cNvGrpSpPr/>
          <p:nvPr/>
        </p:nvGrpSpPr>
        <p:grpSpPr>
          <a:xfrm>
            <a:off x="0" y="-180826"/>
            <a:ext cx="9144000" cy="8833294"/>
            <a:chOff x="0" y="-47625"/>
            <a:chExt cx="2408296" cy="2326464"/>
          </a:xfrm>
        </p:grpSpPr>
        <p:sp>
          <p:nvSpPr>
            <p:cNvPr id="410" name="Google Shape;410;p10"/>
            <p:cNvSpPr/>
            <p:nvPr/>
          </p:nvSpPr>
          <p:spPr>
            <a:xfrm>
              <a:off x="0" y="0"/>
              <a:ext cx="2408296" cy="2278839"/>
            </a:xfrm>
            <a:custGeom>
              <a:rect b="b" l="l" r="r" t="t"/>
              <a:pathLst>
                <a:path extrusionOk="0" h="227883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278839"/>
                  </a:lnTo>
                  <a:lnTo>
                    <a:pt x="0" y="2278839"/>
                  </a:lnTo>
                  <a:close/>
                </a:path>
              </a:pathLst>
            </a:custGeom>
            <a:solidFill>
              <a:srgbClr val="F7EBE3"/>
            </a:solidFill>
            <a:ln>
              <a:noFill/>
            </a:ln>
          </p:spPr>
        </p:sp>
        <p:sp>
          <p:nvSpPr>
            <p:cNvPr id="411" name="Google Shape;411;p10"/>
            <p:cNvSpPr txBox="1"/>
            <p:nvPr/>
          </p:nvSpPr>
          <p:spPr>
            <a:xfrm>
              <a:off x="0" y="-47625"/>
              <a:ext cx="2408296" cy="23264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10"/>
          <p:cNvGrpSpPr/>
          <p:nvPr/>
        </p:nvGrpSpPr>
        <p:grpSpPr>
          <a:xfrm>
            <a:off x="0" y="8170313"/>
            <a:ext cx="9144000" cy="2116687"/>
            <a:chOff x="0" y="-47625"/>
            <a:chExt cx="2408296" cy="557481"/>
          </a:xfrm>
        </p:grpSpPr>
        <p:sp>
          <p:nvSpPr>
            <p:cNvPr id="413" name="Google Shape;413;p10"/>
            <p:cNvSpPr/>
            <p:nvPr/>
          </p:nvSpPr>
          <p:spPr>
            <a:xfrm>
              <a:off x="0" y="0"/>
              <a:ext cx="2408296" cy="509856"/>
            </a:xfrm>
            <a:custGeom>
              <a:rect b="b" l="l" r="r" t="t"/>
              <a:pathLst>
                <a:path extrusionOk="0" h="509856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509856"/>
                  </a:lnTo>
                  <a:lnTo>
                    <a:pt x="0" y="509856"/>
                  </a:lnTo>
                  <a:close/>
                </a:path>
              </a:pathLst>
            </a:custGeom>
            <a:solidFill>
              <a:srgbClr val="F7EBE3"/>
            </a:solidFill>
            <a:ln>
              <a:noFill/>
            </a:ln>
          </p:spPr>
        </p:sp>
        <p:sp>
          <p:nvSpPr>
            <p:cNvPr id="414" name="Google Shape;414;p10"/>
            <p:cNvSpPr txBox="1"/>
            <p:nvPr/>
          </p:nvSpPr>
          <p:spPr>
            <a:xfrm>
              <a:off x="0" y="-47625"/>
              <a:ext cx="2408296" cy="557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0"/>
          <p:cNvGrpSpPr/>
          <p:nvPr/>
        </p:nvGrpSpPr>
        <p:grpSpPr>
          <a:xfrm>
            <a:off x="9144000" y="8471642"/>
            <a:ext cx="9144000" cy="1815358"/>
            <a:chOff x="0" y="-47625"/>
            <a:chExt cx="2408296" cy="478119"/>
          </a:xfrm>
        </p:grpSpPr>
        <p:sp>
          <p:nvSpPr>
            <p:cNvPr id="416" name="Google Shape;416;p10"/>
            <p:cNvSpPr/>
            <p:nvPr/>
          </p:nvSpPr>
          <p:spPr>
            <a:xfrm>
              <a:off x="0" y="0"/>
              <a:ext cx="2408296" cy="430494"/>
            </a:xfrm>
            <a:custGeom>
              <a:rect b="b" l="l" r="r" t="t"/>
              <a:pathLst>
                <a:path extrusionOk="0" h="430494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430494"/>
                  </a:lnTo>
                  <a:lnTo>
                    <a:pt x="0" y="430494"/>
                  </a:lnTo>
                  <a:close/>
                </a:path>
              </a:pathLst>
            </a:custGeom>
            <a:solidFill>
              <a:srgbClr val="E0C9C2"/>
            </a:solidFill>
            <a:ln>
              <a:noFill/>
            </a:ln>
          </p:spPr>
        </p:sp>
        <p:sp>
          <p:nvSpPr>
            <p:cNvPr id="417" name="Google Shape;417;p10"/>
            <p:cNvSpPr txBox="1"/>
            <p:nvPr/>
          </p:nvSpPr>
          <p:spPr>
            <a:xfrm>
              <a:off x="0" y="-47625"/>
              <a:ext cx="2408296" cy="4781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0"/>
          <p:cNvGrpSpPr/>
          <p:nvPr/>
        </p:nvGrpSpPr>
        <p:grpSpPr>
          <a:xfrm>
            <a:off x="4831044" y="8968540"/>
            <a:ext cx="16010782" cy="1334165"/>
            <a:chOff x="0" y="0"/>
            <a:chExt cx="21347710" cy="1778886"/>
          </a:xfrm>
        </p:grpSpPr>
        <p:sp>
          <p:nvSpPr>
            <p:cNvPr id="419" name="Google Shape;419;p10"/>
            <p:cNvSpPr/>
            <p:nvPr/>
          </p:nvSpPr>
          <p:spPr>
            <a:xfrm>
              <a:off x="0" y="0"/>
              <a:ext cx="5176653" cy="1778886"/>
            </a:xfrm>
            <a:custGeom>
              <a:rect b="b" l="l" r="r" t="t"/>
              <a:pathLst>
                <a:path extrusionOk="0" h="1778886" w="5176653">
                  <a:moveTo>
                    <a:pt x="0" y="0"/>
                  </a:moveTo>
                  <a:lnTo>
                    <a:pt x="5176653" y="0"/>
                  </a:lnTo>
                  <a:lnTo>
                    <a:pt x="5176653" y="1778886"/>
                  </a:lnTo>
                  <a:lnTo>
                    <a:pt x="0" y="17788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0" name="Google Shape;420;p10"/>
            <p:cNvSpPr/>
            <p:nvPr/>
          </p:nvSpPr>
          <p:spPr>
            <a:xfrm>
              <a:off x="5391081" y="0"/>
              <a:ext cx="5176653" cy="1778886"/>
            </a:xfrm>
            <a:custGeom>
              <a:rect b="b" l="l" r="r" t="t"/>
              <a:pathLst>
                <a:path extrusionOk="0" h="1778886" w="5176653">
                  <a:moveTo>
                    <a:pt x="0" y="0"/>
                  </a:moveTo>
                  <a:lnTo>
                    <a:pt x="5176653" y="0"/>
                  </a:lnTo>
                  <a:lnTo>
                    <a:pt x="5176653" y="1778886"/>
                  </a:lnTo>
                  <a:lnTo>
                    <a:pt x="0" y="17788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1" name="Google Shape;421;p10"/>
            <p:cNvSpPr/>
            <p:nvPr/>
          </p:nvSpPr>
          <p:spPr>
            <a:xfrm>
              <a:off x="10779976" y="0"/>
              <a:ext cx="5176653" cy="1778886"/>
            </a:xfrm>
            <a:custGeom>
              <a:rect b="b" l="l" r="r" t="t"/>
              <a:pathLst>
                <a:path extrusionOk="0" h="1778886" w="5176653">
                  <a:moveTo>
                    <a:pt x="0" y="0"/>
                  </a:moveTo>
                  <a:lnTo>
                    <a:pt x="5176653" y="0"/>
                  </a:lnTo>
                  <a:lnTo>
                    <a:pt x="5176653" y="1778886"/>
                  </a:lnTo>
                  <a:lnTo>
                    <a:pt x="0" y="17788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2" name="Google Shape;422;p10"/>
            <p:cNvSpPr/>
            <p:nvPr/>
          </p:nvSpPr>
          <p:spPr>
            <a:xfrm>
              <a:off x="16171057" y="0"/>
              <a:ext cx="5176653" cy="1778886"/>
            </a:xfrm>
            <a:custGeom>
              <a:rect b="b" l="l" r="r" t="t"/>
              <a:pathLst>
                <a:path extrusionOk="0" h="1778886" w="5176653">
                  <a:moveTo>
                    <a:pt x="0" y="0"/>
                  </a:moveTo>
                  <a:lnTo>
                    <a:pt x="5176653" y="0"/>
                  </a:lnTo>
                  <a:lnTo>
                    <a:pt x="5176653" y="1778886"/>
                  </a:lnTo>
                  <a:lnTo>
                    <a:pt x="0" y="17788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23" name="Google Shape;423;p10"/>
          <p:cNvSpPr txBox="1"/>
          <p:nvPr/>
        </p:nvSpPr>
        <p:spPr>
          <a:xfrm>
            <a:off x="1273479" y="2633663"/>
            <a:ext cx="7286580" cy="5545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for your time and interest.</a:t>
            </a:r>
            <a:endParaRPr/>
          </a:p>
          <a:p>
            <a:pPr indent="0" lvl="0" marL="0" marR="0" rtl="0" algn="l">
              <a:lnSpc>
                <a:spcPct val="13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99" u="none" cap="none" strike="noStrike">
              <a:solidFill>
                <a:srgbClr val="8B6B6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questions or more information, don’t hesitate to reach out.</a:t>
            </a:r>
            <a:endParaRPr/>
          </a:p>
          <a:p>
            <a:pPr indent="0" lvl="0" marL="0" marR="0" rtl="0" algn="l">
              <a:lnSpc>
                <a:spcPct val="13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99" u="none" cap="none" strike="noStrike">
              <a:solidFill>
                <a:srgbClr val="8B6B6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8B6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look forward to collaborating and revolutionizing feminine health—together.</a:t>
            </a:r>
            <a:endParaRPr/>
          </a:p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99" u="none" cap="none" strike="noStrike">
              <a:solidFill>
                <a:srgbClr val="8B6B6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99" u="none" cap="none" strike="noStrike">
              <a:solidFill>
                <a:srgbClr val="8B6B6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971550" y="1133475"/>
            <a:ext cx="6916393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8B6B62"/>
                </a:solidFill>
                <a:latin typeface="Ultra"/>
                <a:ea typeface="Ultra"/>
                <a:cs typeface="Ultra"/>
                <a:sym typeface="Ultra"/>
              </a:rPr>
              <a:t>Thank You!</a:t>
            </a:r>
            <a:endParaRPr/>
          </a:p>
        </p:txBody>
      </p:sp>
      <p:grpSp>
        <p:nvGrpSpPr>
          <p:cNvPr id="425" name="Google Shape;425;p10"/>
          <p:cNvGrpSpPr/>
          <p:nvPr/>
        </p:nvGrpSpPr>
        <p:grpSpPr>
          <a:xfrm>
            <a:off x="9812906" y="3076084"/>
            <a:ext cx="7417819" cy="1048418"/>
            <a:chOff x="0" y="-76200"/>
            <a:chExt cx="9890425" cy="1397891"/>
          </a:xfrm>
        </p:grpSpPr>
        <p:sp>
          <p:nvSpPr>
            <p:cNvPr id="426" name="Google Shape;426;p10"/>
            <p:cNvSpPr txBox="1"/>
            <p:nvPr/>
          </p:nvSpPr>
          <p:spPr>
            <a:xfrm>
              <a:off x="0" y="-76200"/>
              <a:ext cx="9890425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Email </a:t>
              </a:r>
              <a:endParaRPr/>
            </a:p>
          </p:txBody>
        </p:sp>
        <p:sp>
          <p:nvSpPr>
            <p:cNvPr id="427" name="Google Shape;427;p10"/>
            <p:cNvSpPr txBox="1"/>
            <p:nvPr/>
          </p:nvSpPr>
          <p:spPr>
            <a:xfrm>
              <a:off x="0" y="538524"/>
              <a:ext cx="9890425" cy="7831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00" u="sng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SenseTampons@gmail.c</a:t>
              </a:r>
              <a:r>
                <a:rPr b="0" i="0" lang="en-US" sz="3500" u="sng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om</a:t>
              </a:r>
              <a:endParaRPr/>
            </a:p>
          </p:txBody>
        </p:sp>
      </p:grpSp>
      <p:grpSp>
        <p:nvGrpSpPr>
          <p:cNvPr id="428" name="Google Shape;428;p10"/>
          <p:cNvGrpSpPr/>
          <p:nvPr/>
        </p:nvGrpSpPr>
        <p:grpSpPr>
          <a:xfrm>
            <a:off x="9841481" y="4915077"/>
            <a:ext cx="7417819" cy="1048418"/>
            <a:chOff x="0" y="-76200"/>
            <a:chExt cx="9890425" cy="1397891"/>
          </a:xfrm>
        </p:grpSpPr>
        <p:sp>
          <p:nvSpPr>
            <p:cNvPr id="429" name="Google Shape;429;p10"/>
            <p:cNvSpPr txBox="1"/>
            <p:nvPr/>
          </p:nvSpPr>
          <p:spPr>
            <a:xfrm>
              <a:off x="0" y="-76200"/>
              <a:ext cx="9890425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Thelet Shevach</a:t>
              </a:r>
              <a:endParaRPr/>
            </a:p>
          </p:txBody>
        </p:sp>
        <p:sp>
          <p:nvSpPr>
            <p:cNvPr id="430" name="Google Shape;430;p10"/>
            <p:cNvSpPr txBox="1"/>
            <p:nvPr/>
          </p:nvSpPr>
          <p:spPr>
            <a:xfrm>
              <a:off x="0" y="538524"/>
              <a:ext cx="9890425" cy="7831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+972 546964547</a:t>
              </a:r>
              <a:endParaRPr/>
            </a:p>
          </p:txBody>
        </p:sp>
      </p:grpSp>
      <p:grpSp>
        <p:nvGrpSpPr>
          <p:cNvPr id="431" name="Google Shape;431;p10"/>
          <p:cNvGrpSpPr/>
          <p:nvPr/>
        </p:nvGrpSpPr>
        <p:grpSpPr>
          <a:xfrm>
            <a:off x="14235788" y="4915077"/>
            <a:ext cx="7417819" cy="1048418"/>
            <a:chOff x="0" y="-76200"/>
            <a:chExt cx="9890425" cy="1397891"/>
          </a:xfrm>
        </p:grpSpPr>
        <p:sp>
          <p:nvSpPr>
            <p:cNvPr id="432" name="Google Shape;432;p10"/>
            <p:cNvSpPr txBox="1"/>
            <p:nvPr/>
          </p:nvSpPr>
          <p:spPr>
            <a:xfrm>
              <a:off x="0" y="-76200"/>
              <a:ext cx="9890425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Dan Israel</a:t>
              </a:r>
              <a:endParaRPr/>
            </a:p>
          </p:txBody>
        </p:sp>
        <p:sp>
          <p:nvSpPr>
            <p:cNvPr id="433" name="Google Shape;433;p10"/>
            <p:cNvSpPr txBox="1"/>
            <p:nvPr/>
          </p:nvSpPr>
          <p:spPr>
            <a:xfrm>
              <a:off x="0" y="538524"/>
              <a:ext cx="9890425" cy="7831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+972 543040105</a:t>
              </a:r>
              <a:endParaRPr/>
            </a:p>
          </p:txBody>
        </p:sp>
      </p:grpSp>
      <p:grpSp>
        <p:nvGrpSpPr>
          <p:cNvPr id="434" name="Google Shape;434;p10"/>
          <p:cNvGrpSpPr/>
          <p:nvPr/>
        </p:nvGrpSpPr>
        <p:grpSpPr>
          <a:xfrm>
            <a:off x="9841481" y="6755198"/>
            <a:ext cx="7417819" cy="1048418"/>
            <a:chOff x="0" y="-76200"/>
            <a:chExt cx="9890425" cy="1397891"/>
          </a:xfrm>
        </p:grpSpPr>
        <p:sp>
          <p:nvSpPr>
            <p:cNvPr id="435" name="Google Shape;435;p10"/>
            <p:cNvSpPr txBox="1"/>
            <p:nvPr/>
          </p:nvSpPr>
          <p:spPr>
            <a:xfrm>
              <a:off x="0" y="-76200"/>
              <a:ext cx="9890425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Adar Shamir</a:t>
              </a:r>
              <a:endParaRPr/>
            </a:p>
          </p:txBody>
        </p:sp>
        <p:sp>
          <p:nvSpPr>
            <p:cNvPr id="436" name="Google Shape;436;p10"/>
            <p:cNvSpPr txBox="1"/>
            <p:nvPr/>
          </p:nvSpPr>
          <p:spPr>
            <a:xfrm>
              <a:off x="0" y="538524"/>
              <a:ext cx="9890425" cy="7831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00" u="none" cap="none" strike="noStrike">
                  <a:solidFill>
                    <a:srgbClr val="F7EBE3"/>
                  </a:solidFill>
                  <a:latin typeface="DM Sans"/>
                  <a:ea typeface="DM Sans"/>
                  <a:cs typeface="DM Sans"/>
                  <a:sym typeface="DM Sans"/>
                </a:rPr>
                <a:t>+972 523022522</a:t>
              </a:r>
              <a:endParaRPr/>
            </a:p>
          </p:txBody>
        </p:sp>
      </p:grpSp>
      <p:sp>
        <p:nvSpPr>
          <p:cNvPr id="437" name="Google Shape;437;p10"/>
          <p:cNvSpPr txBox="1"/>
          <p:nvPr/>
        </p:nvSpPr>
        <p:spPr>
          <a:xfrm>
            <a:off x="9812906" y="1133475"/>
            <a:ext cx="4990207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7EBE3"/>
                </a:solidFill>
                <a:latin typeface="Ultra"/>
                <a:ea typeface="Ultra"/>
                <a:cs typeface="Ultra"/>
                <a:sym typeface="Ultra"/>
              </a:rPr>
              <a:t>Contect Us</a:t>
            </a:r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4572000" y="7307982"/>
            <a:ext cx="5038743" cy="2367869"/>
            <a:chOff x="0" y="0"/>
            <a:chExt cx="6718324" cy="3157159"/>
          </a:xfrm>
        </p:grpSpPr>
        <p:sp>
          <p:nvSpPr>
            <p:cNvPr id="439" name="Google Shape;439;p10"/>
            <p:cNvSpPr/>
            <p:nvPr/>
          </p:nvSpPr>
          <p:spPr>
            <a:xfrm>
              <a:off x="0" y="0"/>
              <a:ext cx="1181346" cy="3157159"/>
            </a:xfrm>
            <a:custGeom>
              <a:rect b="b" l="l" r="r" t="t"/>
              <a:pathLst>
                <a:path extrusionOk="0" h="3157159" w="1181346">
                  <a:moveTo>
                    <a:pt x="0" y="0"/>
                  </a:moveTo>
                  <a:lnTo>
                    <a:pt x="1181346" y="0"/>
                  </a:lnTo>
                  <a:lnTo>
                    <a:pt x="1181346" y="3157159"/>
                  </a:lnTo>
                  <a:lnTo>
                    <a:pt x="0" y="31571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-192474" t="-9437"/>
              </a:stretch>
            </a:blipFill>
            <a:ln>
              <a:noFill/>
            </a:ln>
          </p:spPr>
        </p:sp>
        <p:sp>
          <p:nvSpPr>
            <p:cNvPr id="440" name="Google Shape;440;p10"/>
            <p:cNvSpPr txBox="1"/>
            <p:nvPr/>
          </p:nvSpPr>
          <p:spPr>
            <a:xfrm>
              <a:off x="1392056" y="679061"/>
              <a:ext cx="5326268" cy="1220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43" u="none" cap="none" strike="noStrike">
                  <a:solidFill>
                    <a:srgbClr val="8B6B6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